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77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223D5C"/>
                </a:solidFill>
                <a:latin typeface="Microsoft JhengHei"/>
              </a:defRPr>
            </a:pPr>
            <a:r>
              <a:t>統計學（一）</a:t>
            </a:r>
          </a:p>
          <a:p>
            <a:pPr>
              <a:defRPr sz="2800">
                <a:solidFill>
                  <a:srgbClr val="377678"/>
                </a:solidFill>
                <a:latin typeface="Microsoft JhengHei"/>
              </a:defRPr>
            </a:pPr>
            <a:r>
              <a:t>Week 01｜統計學導論與資料基本概念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86200"/>
            <a:ext cx="9966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2D2D2D"/>
                </a:solidFill>
                <a:latin typeface="Microsoft JhengHei"/>
              </a:defRPr>
            </a:pPr>
            <a:r>
              <a:t>從「資料」開始：我們如何用少量資訊理解更大的群體？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W01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064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本週學習目標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說明統計學的用途與正式定義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區分敘述統計學與推論統計學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辨識母體、樣本、母體參數與樣本統計量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區分質變數、量變數、連續型與間斷（離散）型變數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判斷名目、順序、等距與比率四種衡量尺度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W01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064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1｜統計學從哪裡來？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Statistics 一詞源自拉丁文 status，原意與「狀態」相關。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早期統計常用於描述國家的人口、政治與經濟狀態。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隨著機率理論與統計方法發展，統計已廣泛應用於日常生活與各專業領域。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W01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064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2｜統計學在做什麼？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蒐集資料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整理與呈現資料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分析與解釋資料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由樣本資訊推論母體特徵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W01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064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統計學的正式定義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統計學是一種對研究現象進行資料蒐集、整理、分析與解釋的方法。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並可根據統計原理，由樣本推論母體的某些特徵，據以形成合理研判與有效結論。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W01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064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3｜統計學的兩種類型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49377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23D5C"/>
                </a:solidFill>
                <a:latin typeface="Microsoft JhengHei"/>
              </a:defRPr>
            </a:pPr>
            <a:r>
              <a:t>敘述統計學</a:t>
            </a:r>
          </a:p>
          <a:p>
            <a:pPr algn="ctr">
              <a:spcBef>
                <a:spcPts val="1800"/>
              </a:spcBef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描述與整理目前所掌握的資料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828800"/>
            <a:ext cx="49377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23D5C"/>
                </a:solidFill>
                <a:latin typeface="Microsoft JhengHei"/>
              </a:defRPr>
            </a:pPr>
            <a:r>
              <a:t>推論統計學</a:t>
            </a:r>
          </a:p>
          <a:p>
            <a:pPr algn="ctr">
              <a:spcBef>
                <a:spcPts val="1800"/>
              </a:spcBef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由樣本資訊推論母體特徵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W01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064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統計方法的基本流程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① 確定問題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② 蒐集資料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③ 審查、整理與呈現資料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④ 分析與解釋資料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⑤ 統計推論與形成結論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W01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064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4｜統計學為什麼重要？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日常生活：降雨機率、物價指數、股價漲跌等。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專業領域：醫學、工業、經濟、政治、教育等。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重點不是只會算，而是能用資料支持判斷。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W01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064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5｜母體與樣本</a:t>
            </a:r>
          </a:p>
        </p:txBody>
      </p:sp>
      <p:sp>
        <p:nvSpPr>
          <p:cNvPr id="4" name="Oval 3"/>
          <p:cNvSpPr/>
          <p:nvPr/>
        </p:nvSpPr>
        <p:spPr>
          <a:xfrm>
            <a:off x="1005840" y="1645920"/>
            <a:ext cx="3931920" cy="3200400"/>
          </a:xfrm>
          <a:prstGeom prst="ellipse">
            <a:avLst/>
          </a:prstGeom>
          <a:solidFill>
            <a:srgbClr val="D7E2E7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23D5C"/>
                </a:solidFill>
                <a:latin typeface="Microsoft JhengHei"/>
              </a:defRPr>
            </a:pPr>
            <a:r>
              <a:t>母體</a:t>
            </a:r>
          </a:p>
          <a:p>
            <a:pPr algn="ctr">
              <a:defRPr sz="2200" b="1">
                <a:solidFill>
                  <a:srgbClr val="223D5C"/>
                </a:solidFill>
                <a:latin typeface="Microsoft JhengHei"/>
              </a:defRPr>
            </a:pPr>
            <a:r>
              <a:t>研究對象的全體集合</a:t>
            </a:r>
          </a:p>
        </p:txBody>
      </p:sp>
      <p:sp>
        <p:nvSpPr>
          <p:cNvPr id="5" name="Oval 4"/>
          <p:cNvSpPr/>
          <p:nvPr/>
        </p:nvSpPr>
        <p:spPr>
          <a:xfrm>
            <a:off x="7040880" y="2057400"/>
            <a:ext cx="2926080" cy="2286000"/>
          </a:xfrm>
          <a:prstGeom prst="ellipse">
            <a:avLst/>
          </a:prstGeom>
          <a:solidFill>
            <a:srgbClr val="FFFFFF"/>
          </a:solidFill>
          <a:ln>
            <a:solidFill>
              <a:srgbClr val="B45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B45C2B"/>
                </a:solidFill>
                <a:latin typeface="Microsoft JhengHei"/>
              </a:defRPr>
            </a:pPr>
            <a:r>
              <a:t>樣本</a:t>
            </a:r>
          </a:p>
          <a:p>
            <a:pPr algn="ctr">
              <a:defRPr sz="2100" b="1">
                <a:solidFill>
                  <a:srgbClr val="B45C2B"/>
                </a:solidFill>
                <a:latin typeface="Microsoft JhengHei"/>
              </a:defRPr>
            </a:pPr>
            <a:r>
              <a:t>母體的一部分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892040" y="2743200"/>
            <a:ext cx="2011680" cy="640080"/>
          </a:xfrm>
          <a:prstGeom prst="rightArrow">
            <a:avLst/>
          </a:prstGeom>
          <a:solidFill>
            <a:srgbClr val="377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W01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064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母體參數與樣本統計量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母體參數：描述母體資料特性的統計測量數。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樣本統計量：描述樣本資料特性的統計測量數。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推論統計的核心：利用樣本統計量推論母體參數。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W01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064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課堂判讀｜誰是母體？誰是樣本？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情境：想了解「本校大一學生每週使用行動支付的次數」，隨機調查 120 位大一學生。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請判斷：研究母體是誰？樣本是誰？若計算 120 人的平均使用次數，這個數值屬於什麼？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W01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064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6｜統計變數及其種類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質變數：以性質或特性加以區分，通常以文字或類別表示。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量變數：資料本身可用數值表示。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量變數可再分為連續型與間斷（離散）型。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W01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064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連續型 vs. 間斷型變數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連續型變數：以「測量或度量（measure）」方式取得，例如身高、體重。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間斷型／離散型變數：以「點計（count）」方式取得，例如每月交易次數、家庭子女數。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W01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064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7｜資料型態與衡量尺度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名目尺度：表示資料的類別。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順序尺度：除類別外，還能表示排序。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等距尺度：數值差異代表距離大小，但沒有絕對原點。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比率尺度：具有等距尺度特性，且具有絕對原點。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W01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064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四種衡量尺度怎麼分？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名目：只分種類，例如付款方式。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順序：可以排序，例如滿意度等級。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等距：差值有意義、0 不代表「完全沒有」。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比率：差值與倍數都有意義，0 代表真正的沒有。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W01  |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064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課堂練習｜資料分類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請判斷下列變數的「變數種類」與「衡量尺度」：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（1）學生所屬班級　（2）信用評等等級　（3）攝氏溫度　（4）每月刷卡金額　（5）每日交易筆數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W01  |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064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本週重點整理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統計學：蒐集 → 整理 → 分析 → 解釋 → 推論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敘述統計描述手上的資料；推論統計由樣本推向母體。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母體是研究全體；樣本是從母體抽出的部分。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量變數再分連續與離散；衡量尺度分名目、順序、等距、比率。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W01  |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064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離開教室前｜1 分鐘檢核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用一句話說明「樣本」與「母體」的關係。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「每月信用卡消費金額」是什麼變數？屬於哪一種衡量尺度？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Microsoft JhengHei"/>
              </a:defRPr>
            </a:pPr>
            <a:r>
              <a:t>你今天最容易混淆的是哪一組概念？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W01  |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