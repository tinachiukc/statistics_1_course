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7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223D5C"/>
                </a:solidFill>
                <a:latin typeface="Microsoft JhengHei"/>
              </a:defRPr>
            </a:pPr>
            <a:r>
              <a:t>統計學（一）</a:t>
            </a:r>
          </a:p>
          <a:p>
            <a:pPr>
              <a:defRPr sz="2800">
                <a:solidFill>
                  <a:srgbClr val="377678"/>
                </a:solidFill>
                <a:latin typeface="Microsoft JhengHei"/>
              </a:defRPr>
            </a:pPr>
            <a:r>
              <a:t>Week 02｜敘述統計：資料整理、列表與圖示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說明統計資料的基本意義與種類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辨識初級／次級、靜態／動態、普查／抽查資料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了解統計資料的主要蒐集方式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將類別、離散與連續資料整理成統計表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解讀絕對次數、相對次數與累積次數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依資料性質選擇適當的統計圖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從 W01 到 W02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W01：先辨認資料是什麼、屬於哪種變數與衡量尺度。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W02：把一堆原始資料整理成「看得懂」的表與圖。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本週核心問題：資料很多時，怎麼讓人一眼看出重點？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Chapter 2 的範圍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2-1 統計資料的意義與種類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2-2 統計資料的蒐集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2-3 統計資料的測量尺度（W01 已先介紹）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2-4 統計資料的呈現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2-5 統計表的編製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2-6 各種次數分配表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2-7 統計圖的繪製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2-8 統計圖形的誇大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1｜統計資料的三個要素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時間：資料發生或觀察的時間。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地點：資料所屬的空間或範圍。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屬性：我們實際觀察或記錄的特徵。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統計資料的三種特性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大量的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數字的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客觀的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重點：單一個案不是統計資料的全貌；統計要從一群資料中找出資訊。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2｜依取得方式分類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初級資料：研究者為目前研究目的自行蒐集的資料。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次級資料：已由他人或其他單位蒐集、整理過的資料。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想一想：政府公開統計、公司內部歷史報表，各屬哪一類？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依調查時間分類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靜態資料：描述某一特定時間點或狀態。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動態資料：描述隨時間變化的資料。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普查與抽查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普查：調查母體中的所有個體。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抽查：只調查母體中的一部分。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以抽查代替普查的常見原因：經費、人力、時效、破壞性、個數眾多。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3｜初級資料怎麼蒐集？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觀察法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人員訪談法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電話訪問法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郵寄問卷法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網路問卷法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次級資料從哪裡來？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組織內部資料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搜尋引擎與公開網站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政府或官方網站、政府出版品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圖書館收藏之期刊、專書、報紙、雜誌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產業公會或組織刊物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電子資料庫、學位論文與專題報告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4｜資料如何呈現？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兩條主要路徑：統計表、統計圖。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統計表：精確呈現數值與結構。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統計圖：快速看出分布、差異與趨勢。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5｜類別資料的統計表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先列出所有可能的類別。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逐一將資料歸類。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累計各類別發生的次數。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舊教材例：30 位消費者偏好的車款類型 A、B、C、D。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類別資料｜次數表範例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058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車款類型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合計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2976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哪一類最多？C（10 人）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哪一類最少？B（5 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6｜離散資料的統計表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製作程序與類別資料相近。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先列出可能數值，再點計每一數值出現的次數。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舊教材例：學生家庭中的兄弟姊妹人數。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7｜連續資料為什麼要分組？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連續資料可能有許多不同觀測值，逐一列出不容易閱讀。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因此通常先分組，再把觀測值歸入各組。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分組後可快速掌握資料集中在哪些區間。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連續資料｜製作次數分配表六步驟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1. 決定組數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2. 決定各組組距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3. 決定第一組下界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4. 依序決定各組組界或組限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5. 將各觀測值歸屬於各組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Microsoft JhengHei"/>
              </a:defRPr>
            </a:pPr>
            <a:r>
              <a:t>6. 點計各組觀測值個數，製成次數分配表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連續資料｜分組範例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45920"/>
          <a:ext cx="11338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10515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組界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40–45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45–50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50–55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55–60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60–65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65–70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70–75</a:t>
                      </a:r>
                    </a:p>
                  </a:txBody>
                  <a:tcPr>
                    <a:solidFill>
                      <a:srgbClr val="D7E2E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次數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D2D2D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2062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共 50 筆資料；55–60 組的次數最高。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分組後，資料集中位置比原始 50 筆數值更容易看出來。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8｜絕對次數與相對次數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絕對次數：各組實際出現的個數。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相對次數＝各組絕對次數 ÷ 總次數。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用百分比比較不同樣本大小的資料時，相對次數特別有用。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相對次數｜快速練習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某班 50 人，80–100 分有 11 人。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相對次數＝11 ÷ 50＝0.22＝22%。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如果另一班只有 40 人，直接比較「人數」可能不公平，改比較百分比更合適。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9｜累積次數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以上累積次數：比各組下界大的所有資料個數。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以下累積次數：比各組上界小的所有資料個數。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累積次數回答的是「到這裡為止有多少？」或「從這裡以上有多少？」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10｜統計圖怎麼選？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長條圖：比較類別間大小。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線圖：呈現數值變化或次數關係。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直方圖：呈現連續資料的分布。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次數多邊形圖、肩形圖、枝葉圖、圓形圖：舊教材亦列為基本統計圖。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長條圖｜類別資料</a:t>
            </a:r>
          </a:p>
        </p:txBody>
      </p:sp>
      <p:pic>
        <p:nvPicPr>
          <p:cNvPr id="4" name="Picture 3" descr="w02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325880"/>
            <a:ext cx="6492240" cy="3462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7492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比較不同類別的次數或比例。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線圖｜看變化與關係</a:t>
            </a:r>
          </a:p>
        </p:txBody>
      </p:sp>
      <p:pic>
        <p:nvPicPr>
          <p:cNvPr id="4" name="Picture 3" descr="w02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325880"/>
            <a:ext cx="6492240" cy="3462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7492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舊教材以「撫養子女數與員工人數」示範線圖。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直方圖｜連續資料分布</a:t>
            </a:r>
          </a:p>
        </p:txBody>
      </p:sp>
      <p:pic>
        <p:nvPicPr>
          <p:cNvPr id="4" name="Picture 3" descr="w02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25880"/>
            <a:ext cx="6858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7492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Microsoft JhengHei"/>
              </a:defRPr>
            </a:pPr>
            <a:r>
              <a:t>各組區間連續相接，用來觀察連續資料分布。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長條圖 vs. 直方圖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長條圖：用於類別資料；各長條通常彼此分開。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直方圖：用於連續資料的分組；各組區間彼此相接。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不要只看外型，要先問「資料是什麼型態？」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11｜統計圖可能會說謊嗎？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圖形可以幫助理解，也可能因尺度、座標起點或比例設計而誇大差異。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閱讀統計圖時，不只看柱子高低，也要看座標軸與刻度。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本章舊教材最後特別安排「統計圖形的誇大」。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本週整合｜從原始資料到資訊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原始資料 → 分類／分組 → 次數分配表 → 相對／累積次數 → 統計圖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表格讓數字有結構；圖形讓結構更容易被看見。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下一週將從「呈現資料」進一步走向「用一個代表值描述資料」。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22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icrosoft JhengHei"/>
              </a:defRPr>
            </a:pPr>
            <a:r>
              <a:t>離開教室前｜1 分鐘檢核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類別資料最常先怎麼整理？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50 人中有 10 人屬於某組，相對次數是多少？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Microsoft JhengHei"/>
              </a:defRPr>
            </a:pPr>
            <a:r>
              <a:t>長條圖與直方圖最重要的差別是什麼？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  <a:latin typeface="Microsoft JhengHei"/>
              </a:defRPr>
            </a:pPr>
            <a:r>
              <a:t>W02 |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