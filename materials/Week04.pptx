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77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058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223D5C"/>
                </a:solidFill>
                <a:latin typeface="Microsoft JhengHei"/>
              </a:defRPr>
            </a:pPr>
            <a:r>
              <a:t>統計學（一）</a:t>
            </a:r>
          </a:p>
          <a:p>
            <a:pPr>
              <a:defRPr sz="2900">
                <a:solidFill>
                  <a:srgbClr val="377678"/>
                </a:solidFill>
                <a:latin typeface="Microsoft JhengHei"/>
              </a:defRPr>
            </a:pPr>
            <a:r>
              <a:t>Week 04｜集中趨勢量數（二）</a:t>
            </a:r>
          </a:p>
          <a:p>
            <a:pPr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幾何平均數・中位數・分位數・眾數・截尾平均數・加權平均數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本週學習目標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說明幾何平均數適用的資料情境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計算並解釋原始資料的中位數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理解四分位數、十分位數與百分位數的概念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說明眾數、截尾平均數與加權平均數的用途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比較不同集中趨勢量數的特性與適用情境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從 W03 到 W04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W03：先學最常見的算術平均數。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但平均數會受極端值影響，也不是所有資料都適合直接平均。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W04：認識其他「代表中心位置」的方法，學會選對代表值。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Chapter 3｜今天完成後半段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3-3 幾何平均數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3-4 中位數與其他分位數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3-5 眾數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3-6 截尾算術平均數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3-7 加權算術平均數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3-8 各種集中趨勢量數之關係與比較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1｜幾何平均數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幾何平均數適合處理連續相乘、成長率、報酬率等比率資料。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它不是把數值直接相加平均，而是把各期的「成長倍數」相乘後開根號。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幾何平均數｜基本公式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920240"/>
            <a:ext cx="9692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223D5C"/>
                </a:solidFill>
                <a:latin typeface="Cambria Math"/>
              </a:defRPr>
            </a:pPr>
            <a:r>
              <a:t>G = (X₁ × X₂ × … × Xₙ)^(1/n)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各 X 必須為正值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例題｜四年利潤率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四年利潤率分別為 4%、3%、5%、6%。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轉成成長倍數：1.04、1.03、1.05、1.06。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G＝⁴√(1.04×1.03×1.05×1.06)＝1.04494。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因此幾何平均利潤率約為 4.494%。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幾何平均數｜平均成長率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若只知道期初值 X₀、期末值 Xₙ 與期間 n，也可求平均成長率。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舊教材例：股價由 10 元經 10 年變成 80 元。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平均年增率＝(80/10)^(1/10)－1 ≈ 23.1%。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幾何平均數的兩個重要特性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只要資料中有 0 或負值，就無法依本章公式計算幾何平均數。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對一群正值資料而言，幾何平均數必小於或等於算術平均數。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因此處理成長率時，不宜直接用算術平均數取代幾何平均數。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2｜中位數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先把資料依大小排序。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中位數就是排序後位在正中央的數值。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中位數將資料切成上下各約 50%。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奇數筆資料｜中位數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資料：158、169、160、173、172。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排序：158、160、169、172、173。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共有 5 筆，中間第 3 筆＝169。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所以中位數＝169。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偶數筆資料｜中位數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資料排序後：158、160、169、171、172、173。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共有 6 筆，中心落在第 3 與第 4 筆之間。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中位數＝(169＋171)÷2＝170。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中位數的位置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920240"/>
            <a:ext cx="9692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223D5C"/>
                </a:solidFill>
                <a:latin typeface="Cambria Math"/>
              </a:defRPr>
            </a:pPr>
            <a:r>
              <a:t>中位數位置 = (n + 1) / 2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先排序，再找中央位置；偶數筆時中央落在兩筆之間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中位數為什麼重要？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一群資料的中位數只有一個。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中位數不受極端值影響。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只要中位數不落在開放組，即使最大組或最小組為開放組仍可求得。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中位數可用於順序、等距與比率尺度資料。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平均數 vs. 中位數｜極端值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6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資料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代表值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算術平均數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66.6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中位數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75488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  <a:latin typeface="Microsoft JhengHei"/>
              </a:defRPr>
            </a:pPr>
            <a:r>
              <a:t>200 把平均數拉高，但中位數仍停在主要資料群中央。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3｜四分位數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把排序後的資料分成四個部分。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Q₁：約有 25% 資料在它以下。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Q₂：就是中位數，約有 50% 資料在它以下。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Q₃：約有 75% 資料在它以下。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四分位數｜位置概念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920240"/>
            <a:ext cx="9692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223D5C"/>
                </a:solidFill>
                <a:latin typeface="Cambria Math"/>
              </a:defRPr>
            </a:pPr>
            <a:r>
              <a:t>最小值 ── Q₁ ── Q₂(中位數) ── Q₃ ── 最大值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約 25%　　　　50%　　　　75%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十分位數與百分位數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十分位數：把資料分成 10 個部分。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百分位數：把資料分成 100 個部分。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例如第 90 百分位數 P₉₀：約有 90% 的資料不超過這個位置。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分位數的重點是「相對位置」，不只是計算公式。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分組資料的中位數與分位數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舊教材也介紹分組資料的中位數、四分位數、十分位數與百分位數公式。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共同概念：先由累積次數找出所在組，再利用組內均勻分布的假設估計位置。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因此分組資料算出的分位數也是估計值。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4｜眾數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眾數（mode）：一群資料中出現次數最多的數值或類別。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它可以用在類別資料，因此是集中趨勢量數中非常直觀的一種。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資料可能沒有眾數，也可能有一個以上的眾數。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眾數｜生活中的例子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某飲料店今日售出：紅茶 18 杯、綠茶 12 杯、奶茶 25 杯、烏龍茶 10 杯。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眾數是「奶茶」，因為出現次數最多。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注意：這裡資料是類別，不適合算算術平均數，但可以找眾數。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5｜截尾算術平均數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先將資料排序，再刪除兩端相同比例的極端資料後計算平均數。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目的：降低極端值對算術平均數的影響。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它保留平均數的概念，同時減少極端值干擾。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截尾平均數｜直覺例子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資料：30、32、35、36、200。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原平均數＝66.6，受到 200 強烈影響。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若依規則刪除兩端資料後再平均，中心位置會更接近主要資料群。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實際截尾比例必須事先明確規定。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6｜加權算術平均數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不同資料的重要程度不同時，不能每一筆都視為同樣重要。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此時可依各資料的權數計算加權平均數。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常見情境：學期成績、投資組合報酬率、不同班級人數的總平均。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加權平均數｜公式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920240"/>
            <a:ext cx="9692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223D5C"/>
                </a:solidFill>
                <a:latin typeface="Cambria Math"/>
              </a:defRPr>
            </a:pPr>
            <a:r>
              <a:t>x̄w = Σ(wᵢ xᵢ) / Σwᵢ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若權重本身加總為 1，可直接計算 Σ(wᵢxᵢ)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例題｜學期成績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平時成績 80 分，占 30%；期中 70 分，占 30%；期末 90 分，占 40%。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加權平均＝80×0.3＋70×0.3＋90×0.4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＝24＋21＋36＝81 分。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權重不同，不能直接把 80、70、90 三個數字除以 3。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7｜到底該用哪一個？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5840" y="1234440"/>
          <a:ext cx="101498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4920"/>
                <a:gridCol w="5074920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情境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較適合的代表值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一般等距／比率資料，無明顯極端值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算術平均數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成長率、報酬率、連乘效果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幾何平均數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有極端值或順序資料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中位數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想找最常出現的類別／數值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眾數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希望降低兩端極端值影響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截尾平均數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各資料重要程度不同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加權平均數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分配形狀與三個代表值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單峰且對稱：平均數、中位數與眾數通常接近。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右偏分配：較大的極端值會把平均數往右拉。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左偏分配：較小的極端值會把平均數往左拉。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因此分配形狀也會影響代表值的選擇與解讀。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本週整合｜代表值不是只有平均數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成長率、連乘效果 → 幾何平均數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極端值明顯、重視中央位置 → 中位數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最常出現的類別／數值 → 眾數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降低兩端極端值影響 → 截尾平均數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重要程度不同 → 加權平均數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離開教室前｜1 分鐘檢核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投資報酬率跨年度平均，通常優先想到哪一種平均數？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資料中有極端值時，平均數與中位數哪一個較不受影響？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學期成績各項占比不同時，應使用哪一種平均數？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W04 |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