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1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3776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417320"/>
            <a:ext cx="10058400" cy="1463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200" b="1">
                <a:solidFill>
                  <a:srgbClr val="223D5C"/>
                </a:solidFill>
                <a:latin typeface="Microsoft JhengHei"/>
              </a:defRPr>
            </a:pPr>
            <a:r>
              <a:t>統計學（一）</a:t>
            </a:r>
          </a:p>
          <a:p>
            <a:pPr>
              <a:defRPr sz="3000">
                <a:solidFill>
                  <a:srgbClr val="377678"/>
                </a:solidFill>
                <a:latin typeface="Microsoft JhengHei"/>
              </a:defRPr>
            </a:pPr>
            <a:r>
              <a:t>Week 13｜柏努利分配與二項分配</a:t>
            </a:r>
          </a:p>
          <a:p>
            <a:pPr>
              <a:defRPr sz="1900">
                <a:solidFill>
                  <a:srgbClr val="2D2D2D"/>
                </a:solidFill>
                <a:latin typeface="Microsoft JhengHei"/>
              </a:defRPr>
            </a:pPr>
            <a:r>
              <a:t>一次成功／失敗 → 重複 n 次 → 成功總次數 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6473952"/>
            <a:ext cx="8229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E6E6E"/>
                </a:solidFill>
                <a:latin typeface="Microsoft JhengHei"/>
              </a:defRPr>
            </a:pPr>
            <a:r>
              <a:t>W13 | 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223D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28016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  <a:latin typeface="Microsoft JhengHei"/>
              </a:defRPr>
            </a:pPr>
            <a:r>
              <a:t>本週學習目標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234440"/>
            <a:ext cx="10789920" cy="4937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900"/>
              </a:spcAft>
              <a:defRPr sz="1900">
                <a:solidFill>
                  <a:srgbClr val="2D2D2D"/>
                </a:solidFill>
                <a:latin typeface="Microsoft JhengHei"/>
              </a:defRPr>
            </a:pPr>
            <a:r>
              <a:t>說明柏努利分配的實驗特徵</a:t>
            </a:r>
          </a:p>
          <a:p>
            <a:pPr>
              <a:spcAft>
                <a:spcPts val="900"/>
              </a:spcAft>
              <a:defRPr sz="1900">
                <a:solidFill>
                  <a:srgbClr val="2D2D2D"/>
                </a:solidFill>
                <a:latin typeface="Microsoft JhengHei"/>
              </a:defRPr>
            </a:pPr>
            <a:r>
              <a:t>辨識成功與失敗、p 與 q 的意義</a:t>
            </a:r>
          </a:p>
          <a:p>
            <a:pPr>
              <a:spcAft>
                <a:spcPts val="900"/>
              </a:spcAft>
              <a:defRPr sz="1900">
                <a:solidFill>
                  <a:srgbClr val="2D2D2D"/>
                </a:solidFill>
                <a:latin typeface="Microsoft JhengHei"/>
              </a:defRPr>
            </a:pPr>
            <a:r>
              <a:t>計算柏努利分配的機率、期望值與變異數</a:t>
            </a:r>
          </a:p>
          <a:p>
            <a:pPr>
              <a:spcAft>
                <a:spcPts val="900"/>
              </a:spcAft>
              <a:defRPr sz="1900">
                <a:solidFill>
                  <a:srgbClr val="2D2D2D"/>
                </a:solidFill>
                <a:latin typeface="Microsoft JhengHei"/>
              </a:defRPr>
            </a:pPr>
            <a:r>
              <a:t>說明二項分配如何由柏努利實驗重複 n 次形成</a:t>
            </a:r>
          </a:p>
          <a:p>
            <a:pPr>
              <a:spcAft>
                <a:spcPts val="900"/>
              </a:spcAft>
              <a:defRPr sz="1900">
                <a:solidFill>
                  <a:srgbClr val="2D2D2D"/>
                </a:solidFill>
                <a:latin typeface="Microsoft JhengHei"/>
              </a:defRPr>
            </a:pPr>
            <a:r>
              <a:t>辨識二項分配中的 n、x、p、q</a:t>
            </a:r>
          </a:p>
          <a:p>
            <a:pPr>
              <a:spcAft>
                <a:spcPts val="900"/>
              </a:spcAft>
              <a:defRPr sz="1900">
                <a:solidFill>
                  <a:srgbClr val="2D2D2D"/>
                </a:solidFill>
                <a:latin typeface="Microsoft JhengHei"/>
              </a:defRPr>
            </a:pPr>
            <a:r>
              <a:t>計算二項分配單一成功次數的機率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6473952"/>
            <a:ext cx="8229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E6E6E"/>
                </a:solidFill>
                <a:latin typeface="Microsoft JhengHei"/>
              </a:defRPr>
            </a:pPr>
            <a:r>
              <a:t>W13 | 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223D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28016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  <a:latin typeface="Microsoft JhengHei"/>
              </a:defRPr>
            </a:pPr>
            <a:r>
              <a:t>從 W12 到 W13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234440"/>
            <a:ext cx="10789920" cy="4937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900"/>
              </a:spcAft>
              <a:defRPr sz="2000">
                <a:solidFill>
                  <a:srgbClr val="2D2D2D"/>
                </a:solidFill>
                <a:latin typeface="Microsoft JhengHei"/>
              </a:defRPr>
            </a:pPr>
            <a:r>
              <a:t>W12 已會用 E(X) 與 Var(X) 描述一個離散機率分配。</a:t>
            </a:r>
          </a:p>
          <a:p>
            <a:pPr>
              <a:spcAft>
                <a:spcPts val="900"/>
              </a:spcAft>
              <a:defRPr sz="2000">
                <a:solidFill>
                  <a:srgbClr val="2D2D2D"/>
                </a:solidFill>
                <a:latin typeface="Microsoft JhengHei"/>
              </a:defRPr>
            </a:pPr>
            <a:r>
              <a:t>W13 開始學「有固定結構、可直接套用」的常用不連續機率分配。</a:t>
            </a:r>
          </a:p>
          <a:p>
            <a:pPr>
              <a:spcAft>
                <a:spcPts val="900"/>
              </a:spcAft>
              <a:defRPr sz="2000">
                <a:solidFill>
                  <a:srgbClr val="2D2D2D"/>
                </a:solidFill>
                <a:latin typeface="Microsoft JhengHei"/>
              </a:defRPr>
            </a:pPr>
            <a:r>
              <a:t>先從最簡單的柏努利分配開始，再延伸到二項分配。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6473952"/>
            <a:ext cx="8229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E6E6E"/>
                </a:solidFill>
                <a:latin typeface="Microsoft JhengHei"/>
              </a:defRPr>
            </a:pPr>
            <a:r>
              <a:t>W13 | 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223D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28016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  <a:latin typeface="Microsoft JhengHei"/>
              </a:defRPr>
            </a:pPr>
            <a:r>
              <a:t>本週對應原講義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234440"/>
            <a:ext cx="10789920" cy="4937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900"/>
              </a:spcAft>
              <a:defRPr sz="2000">
                <a:solidFill>
                  <a:srgbClr val="2D2D2D"/>
                </a:solidFill>
                <a:latin typeface="Microsoft JhengHei"/>
              </a:defRPr>
            </a:pPr>
            <a:r>
              <a:t>6-5 柏努利分配</a:t>
            </a:r>
          </a:p>
          <a:p>
            <a:pPr>
              <a:spcAft>
                <a:spcPts val="900"/>
              </a:spcAft>
              <a:defRPr sz="2000">
                <a:solidFill>
                  <a:srgbClr val="2D2D2D"/>
                </a:solidFill>
                <a:latin typeface="Microsoft JhengHei"/>
              </a:defRPr>
            </a:pPr>
            <a:r>
              <a:t>6-6 二項分配</a:t>
            </a:r>
          </a:p>
          <a:p>
            <a:pPr>
              <a:spcAft>
                <a:spcPts val="900"/>
              </a:spcAft>
              <a:defRPr sz="2000">
                <a:solidFill>
                  <a:srgbClr val="2D2D2D"/>
                </a:solidFill>
                <a:latin typeface="Microsoft JhengHei"/>
              </a:defRPr>
            </a:pPr>
            <a:r>
              <a:t>W13 先建立定義、成立條件、公式與基本例題。</a:t>
            </a:r>
          </a:p>
          <a:p>
            <a:pPr>
              <a:spcAft>
                <a:spcPts val="900"/>
              </a:spcAft>
              <a:defRPr sz="2000">
                <a:solidFill>
                  <a:srgbClr val="2D2D2D"/>
                </a:solidFill>
                <a:latin typeface="Microsoft JhengHei"/>
              </a:defRPr>
            </a:pPr>
            <a:r>
              <a:t>較多二項分配題型與累積機率留到 W14。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6473952"/>
            <a:ext cx="8229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E6E6E"/>
                </a:solidFill>
                <a:latin typeface="Microsoft JhengHei"/>
              </a:defRPr>
            </a:pPr>
            <a:r>
              <a:t>W13 | 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223D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28016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  <a:latin typeface="Microsoft JhengHei"/>
              </a:defRPr>
            </a:pPr>
            <a:r>
              <a:t>1｜柏努利分配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234440"/>
            <a:ext cx="10789920" cy="4937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900"/>
              </a:spcAft>
              <a:defRPr sz="2000">
                <a:solidFill>
                  <a:srgbClr val="2D2D2D"/>
                </a:solidFill>
                <a:latin typeface="Microsoft JhengHei"/>
              </a:defRPr>
            </a:pPr>
            <a:r>
              <a:t>原講義又稱「點二項分配（point binomial distribution）」。</a:t>
            </a:r>
          </a:p>
          <a:p>
            <a:pPr>
              <a:spcAft>
                <a:spcPts val="900"/>
              </a:spcAft>
              <a:defRPr sz="2000">
                <a:solidFill>
                  <a:srgbClr val="2D2D2D"/>
                </a:solidFill>
                <a:latin typeface="Microsoft JhengHei"/>
              </a:defRPr>
            </a:pPr>
            <a:r>
              <a:t>每一次實驗只會發生兩種互斥的結果。</a:t>
            </a:r>
          </a:p>
          <a:p>
            <a:pPr>
              <a:spcAft>
                <a:spcPts val="900"/>
              </a:spcAft>
              <a:defRPr sz="2000">
                <a:solidFill>
                  <a:srgbClr val="2D2D2D"/>
                </a:solidFill>
                <a:latin typeface="Microsoft JhengHei"/>
              </a:defRPr>
            </a:pPr>
            <a:r>
              <a:t>通常把兩種結果稱為成功與失敗。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6473952"/>
            <a:ext cx="8229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E6E6E"/>
                </a:solidFill>
                <a:latin typeface="Microsoft JhengHei"/>
              </a:defRPr>
            </a:pPr>
            <a:r>
              <a:t>W13 | 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223D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28016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  <a:latin typeface="Microsoft JhengHei"/>
              </a:defRPr>
            </a:pPr>
            <a:r>
              <a:t>成功與失敗只是標記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234440"/>
            <a:ext cx="10789920" cy="4937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900"/>
              </a:spcAft>
              <a:defRPr sz="2000">
                <a:solidFill>
                  <a:srgbClr val="2D2D2D"/>
                </a:solidFill>
                <a:latin typeface="Microsoft JhengHei"/>
              </a:defRPr>
            </a:pPr>
            <a:r>
              <a:t>成功通常記為 X=1，機率為 p。</a:t>
            </a:r>
          </a:p>
          <a:p>
            <a:pPr>
              <a:spcAft>
                <a:spcPts val="900"/>
              </a:spcAft>
              <a:defRPr sz="2000">
                <a:solidFill>
                  <a:srgbClr val="2D2D2D"/>
                </a:solidFill>
                <a:latin typeface="Microsoft JhengHei"/>
              </a:defRPr>
            </a:pPr>
            <a:r>
              <a:t>失敗通常記為 X=0，機率為 q。</a:t>
            </a:r>
          </a:p>
          <a:p>
            <a:pPr>
              <a:spcAft>
                <a:spcPts val="900"/>
              </a:spcAft>
              <a:defRPr sz="2000">
                <a:solidFill>
                  <a:srgbClr val="2D2D2D"/>
                </a:solidFill>
                <a:latin typeface="Microsoft JhengHei"/>
              </a:defRPr>
            </a:pPr>
            <a:r>
              <a:t>p+q=1，因此 q=1−p。</a:t>
            </a:r>
          </a:p>
          <a:p>
            <a:pPr>
              <a:spcAft>
                <a:spcPts val="900"/>
              </a:spcAft>
              <a:defRPr sz="2000">
                <a:solidFill>
                  <a:srgbClr val="2D2D2D"/>
                </a:solidFill>
                <a:latin typeface="Microsoft JhengHei"/>
              </a:defRPr>
            </a:pPr>
            <a:r>
              <a:t>「成功」不一定代表好事，只是研究者關心的事件。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6473952"/>
            <a:ext cx="8229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E6E6E"/>
                </a:solidFill>
                <a:latin typeface="Microsoft JhengHei"/>
              </a:defRPr>
            </a:pPr>
            <a:r>
              <a:t>W13 | 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223D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28016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  <a:latin typeface="Microsoft JhengHei"/>
              </a:defRPr>
            </a:pPr>
            <a:r>
              <a:t>柏努利分配｜機率公式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1874519"/>
            <a:ext cx="10332720" cy="1554480"/>
          </a:xfrm>
          <a:prstGeom prst="roundRect">
            <a:avLst/>
          </a:prstGeom>
          <a:solidFill>
            <a:srgbClr val="FFFFFF"/>
          </a:solidFill>
          <a:ln>
            <a:solidFill>
              <a:srgbClr val="3776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500" b="1">
                <a:solidFill>
                  <a:srgbClr val="223D5C"/>
                </a:solidFill>
                <a:latin typeface="Cambria Math"/>
              </a:defRPr>
            </a:pPr>
            <a:r>
              <a:t>P(x) = pˣ q¹⁻ˣ,   x = 0,1</a:t>
            </a:r>
          </a:p>
          <a:p>
            <a:pPr algn="ctr">
              <a:defRPr sz="1600">
                <a:solidFill>
                  <a:srgbClr val="2D2D2D"/>
                </a:solidFill>
                <a:latin typeface="Microsoft JhengHei"/>
              </a:defRPr>
            </a:pPr>
            <a:r>
              <a:t>0≤p≤1，0≤q≤1，且 p+q=1。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6473952"/>
            <a:ext cx="8229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E6E6E"/>
                </a:solidFill>
                <a:latin typeface="Microsoft JhengHei"/>
              </a:defRPr>
            </a:pPr>
            <a:r>
              <a:t>W13 | 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223D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28016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  <a:latin typeface="Microsoft JhengHei"/>
              </a:defRPr>
            </a:pPr>
            <a:r>
              <a:t>柏努利分配表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1463040" y="1828800"/>
          <a:ext cx="914400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2286000"/>
                <a:gridCol w="2286000"/>
                <a:gridCol w="2286000"/>
              </a:tblGrid>
              <a:tr h="1143000">
                <a:tc>
                  <a:txBody>
                    <a:bodyPr/>
                    <a:lstStyle/>
                    <a:p>
                      <a:pPr algn="ctr">
                        <a:defRPr sz="2000" b="1">
                          <a:solidFill>
                            <a:srgbClr val="2D2D2D"/>
                          </a:solidFill>
                          <a:latin typeface="Microsoft JhengHei"/>
                        </a:defRPr>
                      </a:pPr>
                      <a:r>
                        <a:t>X</a:t>
                      </a:r>
                    </a:p>
                  </a:txBody>
                  <a:tcPr>
                    <a:solidFill>
                      <a:srgbClr val="D7E2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2000" b="1">
                          <a:solidFill>
                            <a:srgbClr val="2D2D2D"/>
                          </a:solidFill>
                          <a:latin typeface="Microsoft JhengHei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D7E2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2000" b="1">
                          <a:solidFill>
                            <a:srgbClr val="2D2D2D"/>
                          </a:solidFill>
                          <a:latin typeface="Microsoft JhengHei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D7E2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2000" b="1">
                          <a:solidFill>
                            <a:srgbClr val="2D2D2D"/>
                          </a:solidFill>
                          <a:latin typeface="Microsoft JhengHei"/>
                        </a:defRPr>
                      </a:pPr>
                      <a:r>
                        <a:t>合計</a:t>
                      </a:r>
                    </a:p>
                  </a:txBody>
                  <a:tcPr>
                    <a:solidFill>
                      <a:srgbClr val="D7E2E7"/>
                    </a:solidFill>
                  </a:tcPr>
                </a:tc>
              </a:tr>
              <a:tr h="1143000">
                <a:tc>
                  <a:txBody>
                    <a:bodyPr/>
                    <a:lstStyle/>
                    <a:p>
                      <a:pPr algn="ctr">
                        <a:defRPr sz="2000" b="0">
                          <a:solidFill>
                            <a:srgbClr val="2D2D2D"/>
                          </a:solidFill>
                          <a:latin typeface="Microsoft JhengHei"/>
                        </a:defRPr>
                      </a:pPr>
                      <a:r>
                        <a:t>P(x)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2000" b="0">
                          <a:solidFill>
                            <a:srgbClr val="2D2D2D"/>
                          </a:solidFill>
                          <a:latin typeface="Microsoft JhengHei"/>
                        </a:defRPr>
                      </a:pPr>
                      <a:r>
                        <a:t>q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2000" b="0">
                          <a:solidFill>
                            <a:srgbClr val="2D2D2D"/>
                          </a:solidFill>
                          <a:latin typeface="Microsoft JhengHei"/>
                        </a:defRPr>
                      </a:pPr>
                      <a:r>
                        <a:t>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2000" b="0">
                          <a:solidFill>
                            <a:srgbClr val="2D2D2D"/>
                          </a:solidFill>
                          <a:latin typeface="Microsoft JhengHei"/>
                        </a:defRPr>
                      </a:pPr>
                      <a:r>
                        <a:t>p+q=1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10789920" y="6473952"/>
            <a:ext cx="8229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E6E6E"/>
                </a:solidFill>
                <a:latin typeface="Microsoft JhengHei"/>
              </a:defRPr>
            </a:pPr>
            <a:r>
              <a:t>W13 | 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223D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28016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  <a:latin typeface="Microsoft JhengHei"/>
              </a:defRPr>
            </a:pPr>
            <a:r>
              <a:t>柏努利分配｜期望值與變異數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1874519"/>
            <a:ext cx="10332720" cy="1554480"/>
          </a:xfrm>
          <a:prstGeom prst="roundRect">
            <a:avLst/>
          </a:prstGeom>
          <a:solidFill>
            <a:srgbClr val="FFFFFF"/>
          </a:solidFill>
          <a:ln>
            <a:solidFill>
              <a:srgbClr val="3776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600" b="1">
                <a:solidFill>
                  <a:srgbClr val="223D5C"/>
                </a:solidFill>
                <a:latin typeface="Cambria Math"/>
              </a:defRPr>
            </a:pPr>
            <a:r>
              <a:t>E(X)=p　　　Var(X)=p·q</a:t>
            </a:r>
          </a:p>
          <a:p>
            <a:pPr algn="ctr">
              <a:defRPr sz="1600">
                <a:solidFill>
                  <a:srgbClr val="2D2D2D"/>
                </a:solidFill>
                <a:latin typeface="Microsoft JhengHei"/>
              </a:defRPr>
            </a:pPr>
            <a:r>
              <a:t>柏努利分配的平均成功次數就是 p。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6473952"/>
            <a:ext cx="8229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E6E6E"/>
                </a:solidFill>
                <a:latin typeface="Microsoft JhengHei"/>
              </a:defRPr>
            </a:pPr>
            <a:r>
              <a:t>W13 | 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223D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28016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  <a:latin typeface="Microsoft JhengHei"/>
              </a:defRPr>
            </a:pPr>
            <a:r>
              <a:t>原講義例題｜產品良品與不良品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234440"/>
            <a:ext cx="10789920" cy="4937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900"/>
              </a:spcAft>
              <a:defRPr sz="2000">
                <a:solidFill>
                  <a:srgbClr val="2D2D2D"/>
                </a:solidFill>
                <a:latin typeface="Microsoft JhengHei"/>
              </a:defRPr>
            </a:pPr>
            <a:r>
              <a:t>某公司產品中，不良品占 1%，良品占 99%。</a:t>
            </a:r>
          </a:p>
          <a:p>
            <a:pPr>
              <a:spcAft>
                <a:spcPts val="900"/>
              </a:spcAft>
              <a:defRPr sz="2000">
                <a:solidFill>
                  <a:srgbClr val="2D2D2D"/>
                </a:solidFill>
                <a:latin typeface="Microsoft JhengHei"/>
              </a:defRPr>
            </a:pPr>
            <a:r>
              <a:t>隨機抽出一件產品。</a:t>
            </a:r>
          </a:p>
          <a:p>
            <a:pPr>
              <a:spcAft>
                <a:spcPts val="900"/>
              </a:spcAft>
              <a:defRPr sz="2000">
                <a:solidFill>
                  <a:srgbClr val="2D2D2D"/>
                </a:solidFill>
                <a:latin typeface="Microsoft JhengHei"/>
              </a:defRPr>
            </a:pPr>
            <a:r>
              <a:t>原講義令抽到良品 X=0、抽到不良品 X=1。</a:t>
            </a:r>
          </a:p>
          <a:p>
            <a:pPr>
              <a:spcAft>
                <a:spcPts val="900"/>
              </a:spcAft>
              <a:defRPr sz="2000">
                <a:solidFill>
                  <a:srgbClr val="2D2D2D"/>
                </a:solidFill>
                <a:latin typeface="Microsoft JhengHei"/>
              </a:defRPr>
            </a:pPr>
            <a:r>
              <a:t>因此 p=0.01，q=0.99。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6473952"/>
            <a:ext cx="8229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E6E6E"/>
                </a:solidFill>
                <a:latin typeface="Microsoft JhengHei"/>
              </a:defRPr>
            </a:pPr>
            <a:r>
              <a:t>W13 | 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223D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28016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  <a:latin typeface="Microsoft JhengHei"/>
              </a:defRPr>
            </a:pPr>
            <a:r>
              <a:t>原講義例題｜寫成機率分配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1188720" y="1828800"/>
          <a:ext cx="978408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46020"/>
                <a:gridCol w="2446020"/>
                <a:gridCol w="2446020"/>
                <a:gridCol w="2446020"/>
              </a:tblGrid>
              <a:tr h="1143000">
                <a:tc>
                  <a:txBody>
                    <a:bodyPr/>
                    <a:lstStyle/>
                    <a:p>
                      <a:pPr algn="ctr">
                        <a:defRPr sz="1900" b="1">
                          <a:solidFill>
                            <a:srgbClr val="2D2D2D"/>
                          </a:solidFill>
                          <a:latin typeface="Microsoft JhengHei"/>
                        </a:defRPr>
                      </a:pPr>
                      <a:r>
                        <a:t>X</a:t>
                      </a:r>
                    </a:p>
                  </a:txBody>
                  <a:tcPr>
                    <a:solidFill>
                      <a:srgbClr val="D7E2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900" b="1">
                          <a:solidFill>
                            <a:srgbClr val="2D2D2D"/>
                          </a:solidFill>
                          <a:latin typeface="Microsoft JhengHei"/>
                        </a:defRPr>
                      </a:pPr>
                      <a:r>
                        <a:t>0（良品）</a:t>
                      </a:r>
                    </a:p>
                  </a:txBody>
                  <a:tcPr>
                    <a:solidFill>
                      <a:srgbClr val="D7E2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900" b="1">
                          <a:solidFill>
                            <a:srgbClr val="2D2D2D"/>
                          </a:solidFill>
                          <a:latin typeface="Microsoft JhengHei"/>
                        </a:defRPr>
                      </a:pPr>
                      <a:r>
                        <a:t>1（不良品）</a:t>
                      </a:r>
                    </a:p>
                  </a:txBody>
                  <a:tcPr>
                    <a:solidFill>
                      <a:srgbClr val="D7E2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900" b="1">
                          <a:solidFill>
                            <a:srgbClr val="2D2D2D"/>
                          </a:solidFill>
                          <a:latin typeface="Microsoft JhengHei"/>
                        </a:defRPr>
                      </a:pPr>
                      <a:r>
                        <a:t>合計</a:t>
                      </a:r>
                    </a:p>
                  </a:txBody>
                  <a:tcPr>
                    <a:solidFill>
                      <a:srgbClr val="D7E2E7"/>
                    </a:solidFill>
                  </a:tcPr>
                </a:tc>
              </a:tr>
              <a:tr h="1143000">
                <a:tc>
                  <a:txBody>
                    <a:bodyPr/>
                    <a:lstStyle/>
                    <a:p>
                      <a:pPr algn="ctr">
                        <a:defRPr sz="1900" b="0">
                          <a:solidFill>
                            <a:srgbClr val="2D2D2D"/>
                          </a:solidFill>
                          <a:latin typeface="Microsoft JhengHei"/>
                        </a:defRPr>
                      </a:pPr>
                      <a:r>
                        <a:t>P(x)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900" b="0">
                          <a:solidFill>
                            <a:srgbClr val="2D2D2D"/>
                          </a:solidFill>
                          <a:latin typeface="Microsoft JhengHei"/>
                        </a:defRPr>
                      </a:pPr>
                      <a:r>
                        <a:t>0.99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900" b="0">
                          <a:solidFill>
                            <a:srgbClr val="2D2D2D"/>
                          </a:solidFill>
                          <a:latin typeface="Microsoft JhengHei"/>
                        </a:defRPr>
                      </a:pPr>
                      <a:r>
                        <a:t>0.01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900" b="0">
                          <a:solidFill>
                            <a:srgbClr val="2D2D2D"/>
                          </a:solidFill>
                          <a:latin typeface="Microsoft JhengHei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10789920" y="6473952"/>
            <a:ext cx="8229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E6E6E"/>
                </a:solidFill>
                <a:latin typeface="Microsoft JhengHei"/>
              </a:defRPr>
            </a:pPr>
            <a:r>
              <a:t>W13 | 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223D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28016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  <a:latin typeface="Microsoft JhengHei"/>
              </a:defRPr>
            </a:pPr>
            <a:r>
              <a:t>原講義例題｜E(X) 與 Var(X)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234440"/>
            <a:ext cx="10789920" cy="4937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900"/>
              </a:spcAft>
              <a:defRPr sz="2000">
                <a:solidFill>
                  <a:srgbClr val="2D2D2D"/>
                </a:solidFill>
                <a:latin typeface="Microsoft JhengHei"/>
              </a:defRPr>
            </a:pPr>
            <a:r>
              <a:t>E(X)=p=0.01。</a:t>
            </a:r>
          </a:p>
          <a:p>
            <a:pPr>
              <a:spcAft>
                <a:spcPts val="900"/>
              </a:spcAft>
              <a:defRPr sz="2000">
                <a:solidFill>
                  <a:srgbClr val="2D2D2D"/>
                </a:solidFill>
                <a:latin typeface="Microsoft JhengHei"/>
              </a:defRPr>
            </a:pPr>
            <a:r>
              <a:t>Var(X)=p·q=0.01×0.99=0.0099。</a:t>
            </a:r>
          </a:p>
          <a:p>
            <a:pPr>
              <a:spcAft>
                <a:spcPts val="900"/>
              </a:spcAft>
              <a:defRPr sz="2000">
                <a:solidFill>
                  <a:srgbClr val="2D2D2D"/>
                </a:solidFill>
                <a:latin typeface="Microsoft JhengHei"/>
              </a:defRPr>
            </a:pPr>
            <a:r>
              <a:t>一次實驗、兩種互斥結果，就是柏努利分配的核心。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6473952"/>
            <a:ext cx="8229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E6E6E"/>
                </a:solidFill>
                <a:latin typeface="Microsoft JhengHei"/>
              </a:defRPr>
            </a:pPr>
            <a:r>
              <a:t>W13 | 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223D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28016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  <a:latin typeface="Microsoft JhengHei"/>
              </a:defRPr>
            </a:pPr>
            <a:r>
              <a:t>哪些情況像柏努利實驗？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234440"/>
            <a:ext cx="10789920" cy="4937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900"/>
              </a:spcAft>
              <a:defRPr sz="2000">
                <a:solidFill>
                  <a:srgbClr val="2D2D2D"/>
                </a:solidFill>
                <a:latin typeface="Microsoft JhengHei"/>
              </a:defRPr>
            </a:pPr>
            <a:r>
              <a:t>一位顧客：購買／未購買。</a:t>
            </a:r>
          </a:p>
          <a:p>
            <a:pPr>
              <a:spcAft>
                <a:spcPts val="900"/>
              </a:spcAft>
              <a:defRPr sz="2000">
                <a:solidFill>
                  <a:srgbClr val="2D2D2D"/>
                </a:solidFill>
                <a:latin typeface="Microsoft JhengHei"/>
              </a:defRPr>
            </a:pPr>
            <a:r>
              <a:t>一件產品：不良／良好。</a:t>
            </a:r>
          </a:p>
          <a:p>
            <a:pPr>
              <a:spcAft>
                <a:spcPts val="900"/>
              </a:spcAft>
              <a:defRPr sz="2000">
                <a:solidFill>
                  <a:srgbClr val="2D2D2D"/>
                </a:solidFill>
                <a:latin typeface="Microsoft JhengHei"/>
              </a:defRPr>
            </a:pPr>
            <a:r>
              <a:t>一次投籃：命中／未命中。</a:t>
            </a:r>
          </a:p>
          <a:p>
            <a:pPr>
              <a:spcAft>
                <a:spcPts val="900"/>
              </a:spcAft>
              <a:defRPr sz="2000">
                <a:solidFill>
                  <a:srgbClr val="2D2D2D"/>
                </a:solidFill>
                <a:latin typeface="Microsoft JhengHei"/>
              </a:defRPr>
            </a:pPr>
            <a:r>
              <a:t>一位借款人：違約／未違約。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6473952"/>
            <a:ext cx="8229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E6E6E"/>
                </a:solidFill>
                <a:latin typeface="Microsoft JhengHei"/>
              </a:defRPr>
            </a:pPr>
            <a:r>
              <a:t>W13 | 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223D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28016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  <a:latin typeface="Microsoft JhengHei"/>
              </a:defRPr>
            </a:pPr>
            <a:r>
              <a:t>柏努利分配｜先判斷再計算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234440"/>
            <a:ext cx="10789920" cy="4937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900"/>
              </a:spcAft>
              <a:defRPr sz="2000">
                <a:solidFill>
                  <a:srgbClr val="2D2D2D"/>
                </a:solidFill>
                <a:latin typeface="Microsoft JhengHei"/>
              </a:defRPr>
            </a:pPr>
            <a:r>
              <a:t>是不是只有兩種互斥結果？</a:t>
            </a:r>
          </a:p>
          <a:p>
            <a:pPr>
              <a:spcAft>
                <a:spcPts val="900"/>
              </a:spcAft>
              <a:defRPr sz="2000">
                <a:solidFill>
                  <a:srgbClr val="2D2D2D"/>
                </a:solidFill>
                <a:latin typeface="Microsoft JhengHei"/>
              </a:defRPr>
            </a:pPr>
            <a:r>
              <a:t>X 是否只取 0 或 1？</a:t>
            </a:r>
          </a:p>
          <a:p>
            <a:pPr>
              <a:spcAft>
                <a:spcPts val="900"/>
              </a:spcAft>
              <a:defRPr sz="2000">
                <a:solidFill>
                  <a:srgbClr val="2D2D2D"/>
                </a:solidFill>
                <a:latin typeface="Microsoft JhengHei"/>
              </a:defRPr>
            </a:pPr>
            <a:r>
              <a:t>成功機率 p 是否已知？</a:t>
            </a:r>
          </a:p>
          <a:p>
            <a:pPr>
              <a:spcAft>
                <a:spcPts val="900"/>
              </a:spcAft>
              <a:defRPr sz="2000">
                <a:solidFill>
                  <a:srgbClr val="2D2D2D"/>
                </a:solidFill>
                <a:latin typeface="Microsoft JhengHei"/>
              </a:defRPr>
            </a:pPr>
            <a:r>
              <a:t>若符合，就可用柏努利分配。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6473952"/>
            <a:ext cx="8229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E6E6E"/>
                </a:solidFill>
                <a:latin typeface="Microsoft JhengHei"/>
              </a:defRPr>
            </a:pPr>
            <a:r>
              <a:t>W13 | 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223D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28016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  <a:latin typeface="Microsoft JhengHei"/>
              </a:defRPr>
            </a:pPr>
            <a:r>
              <a:t>2｜從柏努利到二項分配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234440"/>
            <a:ext cx="10789920" cy="4937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900"/>
              </a:spcAft>
              <a:defRPr sz="2000">
                <a:solidFill>
                  <a:srgbClr val="2D2D2D"/>
                </a:solidFill>
                <a:latin typeface="Microsoft JhengHei"/>
              </a:defRPr>
            </a:pPr>
            <a:r>
              <a:t>原講義：將柏努利實驗獨立且重複作 n 次。</a:t>
            </a:r>
          </a:p>
          <a:p>
            <a:pPr>
              <a:spcAft>
                <a:spcPts val="900"/>
              </a:spcAft>
              <a:defRPr sz="2000">
                <a:solidFill>
                  <a:srgbClr val="2D2D2D"/>
                </a:solidFill>
                <a:latin typeface="Microsoft JhengHei"/>
              </a:defRPr>
            </a:pPr>
            <a:r>
              <a:t>令 n 次當中成功的總次數為 X。</a:t>
            </a:r>
          </a:p>
          <a:p>
            <a:pPr>
              <a:spcAft>
                <a:spcPts val="900"/>
              </a:spcAft>
              <a:defRPr sz="2000">
                <a:solidFill>
                  <a:srgbClr val="2D2D2D"/>
                </a:solidFill>
                <a:latin typeface="Microsoft JhengHei"/>
              </a:defRPr>
            </a:pPr>
            <a:r>
              <a:t>則失敗總次數為 n−X。</a:t>
            </a:r>
          </a:p>
          <a:p>
            <a:pPr>
              <a:spcAft>
                <a:spcPts val="900"/>
              </a:spcAft>
              <a:defRPr sz="2000">
                <a:solidFill>
                  <a:srgbClr val="2D2D2D"/>
                </a:solidFill>
                <a:latin typeface="Microsoft JhengHei"/>
              </a:defRPr>
            </a:pPr>
            <a:r>
              <a:t>每次成功機率均為 p，失敗機率均為 q=1−p。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6473952"/>
            <a:ext cx="8229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E6E6E"/>
                </a:solidFill>
                <a:latin typeface="Microsoft JhengHei"/>
              </a:defRPr>
            </a:pPr>
            <a:r>
              <a:t>W13 | 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223D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28016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  <a:latin typeface="Microsoft JhengHei"/>
              </a:defRPr>
            </a:pPr>
            <a:r>
              <a:t>二項分配｜四個核心條件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234440"/>
            <a:ext cx="10789920" cy="4937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900"/>
              </a:spcAft>
              <a:defRPr sz="2000">
                <a:solidFill>
                  <a:srgbClr val="2D2D2D"/>
                </a:solidFill>
                <a:latin typeface="Microsoft JhengHei"/>
              </a:defRPr>
            </a:pPr>
            <a:r>
              <a:t>固定進行 n 次實驗。</a:t>
            </a:r>
          </a:p>
          <a:p>
            <a:pPr>
              <a:spcAft>
                <a:spcPts val="900"/>
              </a:spcAft>
              <a:defRPr sz="2000">
                <a:solidFill>
                  <a:srgbClr val="2D2D2D"/>
                </a:solidFill>
                <a:latin typeface="Microsoft JhengHei"/>
              </a:defRPr>
            </a:pPr>
            <a:r>
              <a:t>每次實驗只有成功、失敗兩種互斥結果。</a:t>
            </a:r>
          </a:p>
          <a:p>
            <a:pPr>
              <a:spcAft>
                <a:spcPts val="900"/>
              </a:spcAft>
              <a:defRPr sz="2000">
                <a:solidFill>
                  <a:srgbClr val="2D2D2D"/>
                </a:solidFill>
                <a:latin typeface="Microsoft JhengHei"/>
              </a:defRPr>
            </a:pPr>
            <a:r>
              <a:t>各次實驗彼此獨立。</a:t>
            </a:r>
          </a:p>
          <a:p>
            <a:pPr>
              <a:spcAft>
                <a:spcPts val="900"/>
              </a:spcAft>
              <a:defRPr sz="2000">
                <a:solidFill>
                  <a:srgbClr val="2D2D2D"/>
                </a:solidFill>
                <a:latin typeface="Microsoft JhengHei"/>
              </a:defRPr>
            </a:pPr>
            <a:r>
              <a:t>每次成功機率 p 保持相同。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6473952"/>
            <a:ext cx="8229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E6E6E"/>
                </a:solidFill>
                <a:latin typeface="Microsoft JhengHei"/>
              </a:defRPr>
            </a:pPr>
            <a:r>
              <a:t>W13 | 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223D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28016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  <a:latin typeface="Microsoft JhengHei"/>
              </a:defRPr>
            </a:pPr>
            <a:r>
              <a:t>二項分配中的符號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1828800" y="1280160"/>
          <a:ext cx="8503920" cy="4206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51960"/>
                <a:gridCol w="4251960"/>
              </a:tblGrid>
              <a:tr h="841248">
                <a:tc>
                  <a:txBody>
                    <a:bodyPr/>
                    <a:lstStyle/>
                    <a:p>
                      <a:pPr algn="ctr">
                        <a:defRPr sz="1800" b="1">
                          <a:solidFill>
                            <a:srgbClr val="2D2D2D"/>
                          </a:solidFill>
                          <a:latin typeface="Microsoft JhengHei"/>
                        </a:defRPr>
                      </a:pPr>
                      <a:r>
                        <a:t>符號</a:t>
                      </a:r>
                    </a:p>
                  </a:txBody>
                  <a:tcPr>
                    <a:solidFill>
                      <a:srgbClr val="D7E2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 b="1">
                          <a:solidFill>
                            <a:srgbClr val="2D2D2D"/>
                          </a:solidFill>
                          <a:latin typeface="Microsoft JhengHei"/>
                        </a:defRPr>
                      </a:pPr>
                      <a:r>
                        <a:t>意義</a:t>
                      </a:r>
                    </a:p>
                  </a:txBody>
                  <a:tcPr>
                    <a:solidFill>
                      <a:srgbClr val="D7E2E7"/>
                    </a:solidFill>
                  </a:tcPr>
                </a:tc>
              </a:tr>
              <a:tr h="841248">
                <a:tc>
                  <a:txBody>
                    <a:bodyPr/>
                    <a:lstStyle/>
                    <a:p>
                      <a:pPr algn="ctr">
                        <a:defRPr sz="1800" b="0">
                          <a:solidFill>
                            <a:srgbClr val="2D2D2D"/>
                          </a:solidFill>
                          <a:latin typeface="Microsoft JhengHei"/>
                        </a:defRPr>
                      </a:pPr>
                      <a:r>
                        <a:t>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 b="0">
                          <a:solidFill>
                            <a:srgbClr val="2D2D2D"/>
                          </a:solidFill>
                          <a:latin typeface="Microsoft JhengHei"/>
                        </a:defRPr>
                      </a:pPr>
                      <a:r>
                        <a:t>重複實驗次數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841248">
                <a:tc>
                  <a:txBody>
                    <a:bodyPr/>
                    <a:lstStyle/>
                    <a:p>
                      <a:pPr algn="ctr">
                        <a:defRPr sz="1800" b="0">
                          <a:solidFill>
                            <a:srgbClr val="2D2D2D"/>
                          </a:solidFill>
                          <a:latin typeface="Microsoft JhengHei"/>
                        </a:defRPr>
                      </a:pPr>
                      <a:r>
                        <a:t>X 或 x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 b="0">
                          <a:solidFill>
                            <a:srgbClr val="2D2D2D"/>
                          </a:solidFill>
                          <a:latin typeface="Microsoft JhengHei"/>
                        </a:defRPr>
                      </a:pPr>
                      <a:r>
                        <a:t>成功總次數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841248">
                <a:tc>
                  <a:txBody>
                    <a:bodyPr/>
                    <a:lstStyle/>
                    <a:p>
                      <a:pPr algn="ctr">
                        <a:defRPr sz="1800" b="0">
                          <a:solidFill>
                            <a:srgbClr val="2D2D2D"/>
                          </a:solidFill>
                          <a:latin typeface="Microsoft JhengHei"/>
                        </a:defRPr>
                      </a:pPr>
                      <a:r>
                        <a:t>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 b="0">
                          <a:solidFill>
                            <a:srgbClr val="2D2D2D"/>
                          </a:solidFill>
                          <a:latin typeface="Microsoft JhengHei"/>
                        </a:defRPr>
                      </a:pPr>
                      <a:r>
                        <a:t>每次成功機率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841248">
                <a:tc>
                  <a:txBody>
                    <a:bodyPr/>
                    <a:lstStyle/>
                    <a:p>
                      <a:pPr algn="ctr">
                        <a:defRPr sz="1800" b="0">
                          <a:solidFill>
                            <a:srgbClr val="2D2D2D"/>
                          </a:solidFill>
                          <a:latin typeface="Microsoft JhengHei"/>
                        </a:defRPr>
                      </a:pPr>
                      <a:r>
                        <a:t>q=1−p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 b="0">
                          <a:solidFill>
                            <a:srgbClr val="2D2D2D"/>
                          </a:solidFill>
                          <a:latin typeface="Microsoft JhengHei"/>
                        </a:defRPr>
                      </a:pPr>
                      <a:r>
                        <a:t>每次失敗機率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10789920" y="6473952"/>
            <a:ext cx="8229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E6E6E"/>
                </a:solidFill>
                <a:latin typeface="Microsoft JhengHei"/>
              </a:defRPr>
            </a:pPr>
            <a:r>
              <a:t>W13 | 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223D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28016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  <a:latin typeface="Microsoft JhengHei"/>
              </a:defRPr>
            </a:pPr>
            <a:r>
              <a:t>先看 n=2｜所有實驗結果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1463040" y="1234440"/>
          <a:ext cx="9326880" cy="4297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08960"/>
                <a:gridCol w="3108960"/>
                <a:gridCol w="3108960"/>
              </a:tblGrid>
              <a:tr h="859536">
                <a:tc>
                  <a:txBody>
                    <a:bodyPr/>
                    <a:lstStyle/>
                    <a:p>
                      <a:pPr algn="ctr">
                        <a:defRPr sz="1700" b="1">
                          <a:solidFill>
                            <a:srgbClr val="2D2D2D"/>
                          </a:solidFill>
                          <a:latin typeface="Microsoft JhengHei"/>
                        </a:defRPr>
                      </a:pPr>
                      <a:r>
                        <a:t>實驗結果</a:t>
                      </a:r>
                    </a:p>
                  </a:txBody>
                  <a:tcPr>
                    <a:solidFill>
                      <a:srgbClr val="D7E2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700" b="1">
                          <a:solidFill>
                            <a:srgbClr val="2D2D2D"/>
                          </a:solidFill>
                          <a:latin typeface="Microsoft JhengHei"/>
                        </a:defRPr>
                      </a:pPr>
                      <a:r>
                        <a:t>X</a:t>
                      </a:r>
                    </a:p>
                  </a:txBody>
                  <a:tcPr>
                    <a:solidFill>
                      <a:srgbClr val="D7E2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700" b="1">
                          <a:solidFill>
                            <a:srgbClr val="2D2D2D"/>
                          </a:solidFill>
                          <a:latin typeface="Microsoft JhengHei"/>
                        </a:defRPr>
                      </a:pPr>
                      <a:r>
                        <a:t>機率</a:t>
                      </a:r>
                    </a:p>
                  </a:txBody>
                  <a:tcPr>
                    <a:solidFill>
                      <a:srgbClr val="D7E2E7"/>
                    </a:solidFill>
                  </a:tcPr>
                </a:tc>
              </a:tr>
              <a:tr h="859536">
                <a:tc>
                  <a:txBody>
                    <a:bodyPr/>
                    <a:lstStyle/>
                    <a:p>
                      <a:pPr algn="ctr">
                        <a:defRPr sz="1700" b="0">
                          <a:solidFill>
                            <a:srgbClr val="2D2D2D"/>
                          </a:solidFill>
                          <a:latin typeface="Microsoft JhengHei"/>
                        </a:defRPr>
                      </a:pPr>
                      <a:r>
                        <a:t>成功、成功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700" b="0">
                          <a:solidFill>
                            <a:srgbClr val="2D2D2D"/>
                          </a:solidFill>
                          <a:latin typeface="Microsoft JhengHei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700" b="0">
                          <a:solidFill>
                            <a:srgbClr val="2D2D2D"/>
                          </a:solidFill>
                          <a:latin typeface="Microsoft JhengHei"/>
                        </a:defRPr>
                      </a:pPr>
                      <a:r>
                        <a:t>p²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859536">
                <a:tc>
                  <a:txBody>
                    <a:bodyPr/>
                    <a:lstStyle/>
                    <a:p>
                      <a:pPr algn="ctr">
                        <a:defRPr sz="1700" b="0">
                          <a:solidFill>
                            <a:srgbClr val="2D2D2D"/>
                          </a:solidFill>
                          <a:latin typeface="Microsoft JhengHei"/>
                        </a:defRPr>
                      </a:pPr>
                      <a:r>
                        <a:t>成功、失敗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700" b="0">
                          <a:solidFill>
                            <a:srgbClr val="2D2D2D"/>
                          </a:solidFill>
                          <a:latin typeface="Microsoft JhengHei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700" b="0">
                          <a:solidFill>
                            <a:srgbClr val="2D2D2D"/>
                          </a:solidFill>
                          <a:latin typeface="Microsoft JhengHei"/>
                        </a:defRPr>
                      </a:pPr>
                      <a:r>
                        <a:t>pq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859536">
                <a:tc>
                  <a:txBody>
                    <a:bodyPr/>
                    <a:lstStyle/>
                    <a:p>
                      <a:pPr algn="ctr">
                        <a:defRPr sz="1700" b="0">
                          <a:solidFill>
                            <a:srgbClr val="2D2D2D"/>
                          </a:solidFill>
                          <a:latin typeface="Microsoft JhengHei"/>
                        </a:defRPr>
                      </a:pPr>
                      <a:r>
                        <a:t>失敗、成功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700" b="0">
                          <a:solidFill>
                            <a:srgbClr val="2D2D2D"/>
                          </a:solidFill>
                          <a:latin typeface="Microsoft JhengHei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700" b="0">
                          <a:solidFill>
                            <a:srgbClr val="2D2D2D"/>
                          </a:solidFill>
                          <a:latin typeface="Microsoft JhengHei"/>
                        </a:defRPr>
                      </a:pPr>
                      <a:r>
                        <a:t>qp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859536">
                <a:tc>
                  <a:txBody>
                    <a:bodyPr/>
                    <a:lstStyle/>
                    <a:p>
                      <a:pPr algn="ctr">
                        <a:defRPr sz="1700" b="0">
                          <a:solidFill>
                            <a:srgbClr val="2D2D2D"/>
                          </a:solidFill>
                          <a:latin typeface="Microsoft JhengHei"/>
                        </a:defRPr>
                      </a:pPr>
                      <a:r>
                        <a:t>失敗、失敗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700" b="0">
                          <a:solidFill>
                            <a:srgbClr val="2D2D2D"/>
                          </a:solidFill>
                          <a:latin typeface="Microsoft JhengHei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700" b="0">
                          <a:solidFill>
                            <a:srgbClr val="2D2D2D"/>
                          </a:solidFill>
                          <a:latin typeface="Microsoft JhengHei"/>
                        </a:defRPr>
                      </a:pPr>
                      <a:r>
                        <a:t>q²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10789920" y="6473952"/>
            <a:ext cx="8229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E6E6E"/>
                </a:solidFill>
                <a:latin typeface="Microsoft JhengHei"/>
              </a:defRPr>
            </a:pPr>
            <a:r>
              <a:t>W13 | 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223D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28016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  <a:latin typeface="Microsoft JhengHei"/>
              </a:defRPr>
            </a:pPr>
            <a:r>
              <a:t>n=2｜為什麼 X=1 有兩條路？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234440"/>
            <a:ext cx="10789920" cy="4937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900"/>
              </a:spcAft>
              <a:defRPr sz="2000">
                <a:solidFill>
                  <a:srgbClr val="2D2D2D"/>
                </a:solidFill>
                <a:latin typeface="Microsoft JhengHei"/>
              </a:defRPr>
            </a:pPr>
            <a:r>
              <a:t>成功、失敗：機率 p·q。</a:t>
            </a:r>
          </a:p>
          <a:p>
            <a:pPr>
              <a:spcAft>
                <a:spcPts val="900"/>
              </a:spcAft>
              <a:defRPr sz="2000">
                <a:solidFill>
                  <a:srgbClr val="2D2D2D"/>
                </a:solidFill>
                <a:latin typeface="Microsoft JhengHei"/>
              </a:defRPr>
            </a:pPr>
            <a:r>
              <a:t>失敗、成功：機率 q·p。</a:t>
            </a:r>
          </a:p>
          <a:p>
            <a:pPr>
              <a:spcAft>
                <a:spcPts val="900"/>
              </a:spcAft>
              <a:defRPr sz="2000">
                <a:solidFill>
                  <a:srgbClr val="2D2D2D"/>
                </a:solidFill>
                <a:latin typeface="Microsoft JhengHei"/>
              </a:defRPr>
            </a:pPr>
            <a:r>
              <a:t>兩條路都代表「成功 1 次」。</a:t>
            </a:r>
          </a:p>
          <a:p>
            <a:pPr>
              <a:spcAft>
                <a:spcPts val="900"/>
              </a:spcAft>
              <a:defRPr sz="2000">
                <a:solidFill>
                  <a:srgbClr val="2D2D2D"/>
                </a:solidFill>
                <a:latin typeface="Microsoft JhengHei"/>
              </a:defRPr>
            </a:pPr>
            <a:r>
              <a:t>所以 P(X=1)=pq+qp=2pq。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6473952"/>
            <a:ext cx="8229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E6E6E"/>
                </a:solidFill>
                <a:latin typeface="Microsoft JhengHei"/>
              </a:defRPr>
            </a:pPr>
            <a:r>
              <a:t>W13 | 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223D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28016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  <a:latin typeface="Microsoft JhengHei"/>
              </a:defRPr>
            </a:pPr>
            <a:r>
              <a:t>n=2｜二項分配表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1280160" y="1828800"/>
          <a:ext cx="960120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20240"/>
                <a:gridCol w="1920240"/>
                <a:gridCol w="1920240"/>
                <a:gridCol w="1920240"/>
                <a:gridCol w="1920240"/>
              </a:tblGrid>
              <a:tr h="1143000">
                <a:tc>
                  <a:txBody>
                    <a:bodyPr/>
                    <a:lstStyle/>
                    <a:p>
                      <a:pPr algn="ctr">
                        <a:defRPr sz="2000" b="1">
                          <a:solidFill>
                            <a:srgbClr val="2D2D2D"/>
                          </a:solidFill>
                          <a:latin typeface="Microsoft JhengHei"/>
                        </a:defRPr>
                      </a:pPr>
                      <a:r>
                        <a:t>X</a:t>
                      </a:r>
                    </a:p>
                  </a:txBody>
                  <a:tcPr>
                    <a:solidFill>
                      <a:srgbClr val="D7E2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2000" b="1">
                          <a:solidFill>
                            <a:srgbClr val="2D2D2D"/>
                          </a:solidFill>
                          <a:latin typeface="Microsoft JhengHei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D7E2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2000" b="1">
                          <a:solidFill>
                            <a:srgbClr val="2D2D2D"/>
                          </a:solidFill>
                          <a:latin typeface="Microsoft JhengHei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D7E2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2000" b="1">
                          <a:solidFill>
                            <a:srgbClr val="2D2D2D"/>
                          </a:solidFill>
                          <a:latin typeface="Microsoft JhengHei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D7E2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2000" b="1">
                          <a:solidFill>
                            <a:srgbClr val="2D2D2D"/>
                          </a:solidFill>
                          <a:latin typeface="Microsoft JhengHei"/>
                        </a:defRPr>
                      </a:pPr>
                      <a:r>
                        <a:t>合計</a:t>
                      </a:r>
                    </a:p>
                  </a:txBody>
                  <a:tcPr>
                    <a:solidFill>
                      <a:srgbClr val="D7E2E7"/>
                    </a:solidFill>
                  </a:tcPr>
                </a:tc>
              </a:tr>
              <a:tr h="1143000">
                <a:tc>
                  <a:txBody>
                    <a:bodyPr/>
                    <a:lstStyle/>
                    <a:p>
                      <a:pPr algn="ctr">
                        <a:defRPr sz="2000" b="0">
                          <a:solidFill>
                            <a:srgbClr val="2D2D2D"/>
                          </a:solidFill>
                          <a:latin typeface="Microsoft JhengHei"/>
                        </a:defRPr>
                      </a:pPr>
                      <a:r>
                        <a:t>P(x)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2000" b="0">
                          <a:solidFill>
                            <a:srgbClr val="2D2D2D"/>
                          </a:solidFill>
                          <a:latin typeface="Microsoft JhengHei"/>
                        </a:defRPr>
                      </a:pPr>
                      <a:r>
                        <a:t>q²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2000" b="0">
                          <a:solidFill>
                            <a:srgbClr val="2D2D2D"/>
                          </a:solidFill>
                          <a:latin typeface="Microsoft JhengHei"/>
                        </a:defRPr>
                      </a:pPr>
                      <a:r>
                        <a:t>2pq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2000" b="0">
                          <a:solidFill>
                            <a:srgbClr val="2D2D2D"/>
                          </a:solidFill>
                          <a:latin typeface="Microsoft JhengHei"/>
                        </a:defRPr>
                      </a:pPr>
                      <a:r>
                        <a:t>p²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2000" b="0">
                          <a:solidFill>
                            <a:srgbClr val="2D2D2D"/>
                          </a:solidFill>
                          <a:latin typeface="Microsoft JhengHei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10789920" y="6473952"/>
            <a:ext cx="8229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E6E6E"/>
                </a:solidFill>
                <a:latin typeface="Microsoft JhengHei"/>
              </a:defRPr>
            </a:pPr>
            <a:r>
              <a:t>W13 | 20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223D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28016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  <a:latin typeface="Microsoft JhengHei"/>
              </a:defRPr>
            </a:pPr>
            <a:r>
              <a:t>再看 n=3｜成功 2 次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234440"/>
            <a:ext cx="10789920" cy="4937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900"/>
              </a:spcAft>
              <a:defRPr sz="2000">
                <a:solidFill>
                  <a:srgbClr val="2D2D2D"/>
                </a:solidFill>
                <a:latin typeface="Microsoft JhengHei"/>
              </a:defRPr>
            </a:pPr>
            <a:r>
              <a:t>成功成功失敗：p²q。</a:t>
            </a:r>
          </a:p>
          <a:p>
            <a:pPr>
              <a:spcAft>
                <a:spcPts val="900"/>
              </a:spcAft>
              <a:defRPr sz="2000">
                <a:solidFill>
                  <a:srgbClr val="2D2D2D"/>
                </a:solidFill>
                <a:latin typeface="Microsoft JhengHei"/>
              </a:defRPr>
            </a:pPr>
            <a:r>
              <a:t>成功失敗成功：p²q。</a:t>
            </a:r>
          </a:p>
          <a:p>
            <a:pPr>
              <a:spcAft>
                <a:spcPts val="900"/>
              </a:spcAft>
              <a:defRPr sz="2000">
                <a:solidFill>
                  <a:srgbClr val="2D2D2D"/>
                </a:solidFill>
                <a:latin typeface="Microsoft JhengHei"/>
              </a:defRPr>
            </a:pPr>
            <a:r>
              <a:t>失敗成功成功：p²q。</a:t>
            </a:r>
          </a:p>
          <a:p>
            <a:pPr>
              <a:spcAft>
                <a:spcPts val="900"/>
              </a:spcAft>
              <a:defRPr sz="2000">
                <a:solidFill>
                  <a:srgbClr val="2D2D2D"/>
                </a:solidFill>
                <a:latin typeface="Microsoft JhengHei"/>
              </a:defRPr>
            </a:pPr>
            <a:r>
              <a:t>共有 3 種排列，因此 P(X=2)=3p²q。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6473952"/>
            <a:ext cx="8229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E6E6E"/>
                </a:solidFill>
                <a:latin typeface="Microsoft JhengHei"/>
              </a:defRPr>
            </a:pPr>
            <a:r>
              <a:t>W13 | 21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223D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28016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  <a:latin typeface="Microsoft JhengHei"/>
              </a:defRPr>
            </a:pPr>
            <a:r>
              <a:t>n=3｜機率分配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822960" y="1828800"/>
          <a:ext cx="1051560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52600"/>
                <a:gridCol w="1752600"/>
                <a:gridCol w="1752600"/>
                <a:gridCol w="1752600"/>
                <a:gridCol w="1752600"/>
                <a:gridCol w="1752600"/>
              </a:tblGrid>
              <a:tr h="1143000">
                <a:tc>
                  <a:txBody>
                    <a:bodyPr/>
                    <a:lstStyle/>
                    <a:p>
                      <a:pPr algn="ctr">
                        <a:defRPr sz="1800" b="1">
                          <a:solidFill>
                            <a:srgbClr val="2D2D2D"/>
                          </a:solidFill>
                          <a:latin typeface="Microsoft JhengHei"/>
                        </a:defRPr>
                      </a:pPr>
                      <a:r>
                        <a:t>X</a:t>
                      </a:r>
                    </a:p>
                  </a:txBody>
                  <a:tcPr>
                    <a:solidFill>
                      <a:srgbClr val="D7E2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 b="1">
                          <a:solidFill>
                            <a:srgbClr val="2D2D2D"/>
                          </a:solidFill>
                          <a:latin typeface="Microsoft JhengHei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D7E2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 b="1">
                          <a:solidFill>
                            <a:srgbClr val="2D2D2D"/>
                          </a:solidFill>
                          <a:latin typeface="Microsoft JhengHei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D7E2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 b="1">
                          <a:solidFill>
                            <a:srgbClr val="2D2D2D"/>
                          </a:solidFill>
                          <a:latin typeface="Microsoft JhengHei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D7E2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 b="1">
                          <a:solidFill>
                            <a:srgbClr val="2D2D2D"/>
                          </a:solidFill>
                          <a:latin typeface="Microsoft JhengHei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D7E2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 b="1">
                          <a:solidFill>
                            <a:srgbClr val="2D2D2D"/>
                          </a:solidFill>
                          <a:latin typeface="Microsoft JhengHei"/>
                        </a:defRPr>
                      </a:pPr>
                      <a:r>
                        <a:t>合計</a:t>
                      </a:r>
                    </a:p>
                  </a:txBody>
                  <a:tcPr>
                    <a:solidFill>
                      <a:srgbClr val="D7E2E7"/>
                    </a:solidFill>
                  </a:tcPr>
                </a:tc>
              </a:tr>
              <a:tr h="1143000">
                <a:tc>
                  <a:txBody>
                    <a:bodyPr/>
                    <a:lstStyle/>
                    <a:p>
                      <a:pPr algn="ctr">
                        <a:defRPr sz="1800" b="0">
                          <a:solidFill>
                            <a:srgbClr val="2D2D2D"/>
                          </a:solidFill>
                          <a:latin typeface="Microsoft JhengHei"/>
                        </a:defRPr>
                      </a:pPr>
                      <a:r>
                        <a:t>P(x)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 b="0">
                          <a:solidFill>
                            <a:srgbClr val="2D2D2D"/>
                          </a:solidFill>
                          <a:latin typeface="Microsoft JhengHei"/>
                        </a:defRPr>
                      </a:pPr>
                      <a:r>
                        <a:t>q³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 b="0">
                          <a:solidFill>
                            <a:srgbClr val="2D2D2D"/>
                          </a:solidFill>
                          <a:latin typeface="Microsoft JhengHei"/>
                        </a:defRPr>
                      </a:pPr>
                      <a:r>
                        <a:t>3pq²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 b="0">
                          <a:solidFill>
                            <a:srgbClr val="2D2D2D"/>
                          </a:solidFill>
                          <a:latin typeface="Microsoft JhengHei"/>
                        </a:defRPr>
                      </a:pPr>
                      <a:r>
                        <a:t>3p²q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 b="0">
                          <a:solidFill>
                            <a:srgbClr val="2D2D2D"/>
                          </a:solidFill>
                          <a:latin typeface="Microsoft JhengHei"/>
                        </a:defRPr>
                      </a:pPr>
                      <a:r>
                        <a:t>p³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 b="0">
                          <a:solidFill>
                            <a:srgbClr val="2D2D2D"/>
                          </a:solidFill>
                          <a:latin typeface="Microsoft JhengHei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10789920" y="6473952"/>
            <a:ext cx="8229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E6E6E"/>
                </a:solidFill>
                <a:latin typeface="Microsoft JhengHei"/>
              </a:defRPr>
            </a:pPr>
            <a:r>
              <a:t>W13 | 22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223D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28016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  <a:latin typeface="Microsoft JhengHei"/>
              </a:defRPr>
            </a:pPr>
            <a:r>
              <a:t>為什麼公式裡有組合 C(n,x)？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234440"/>
            <a:ext cx="10789920" cy="4937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900"/>
              </a:spcAft>
              <a:defRPr sz="2000">
                <a:solidFill>
                  <a:srgbClr val="2D2D2D"/>
                </a:solidFill>
                <a:latin typeface="Microsoft JhengHei"/>
              </a:defRPr>
            </a:pPr>
            <a:r>
              <a:t>pˣqⁿ⁻ˣ 是某一種特定排列的機率。</a:t>
            </a:r>
          </a:p>
          <a:p>
            <a:pPr>
              <a:spcAft>
                <a:spcPts val="900"/>
              </a:spcAft>
              <a:defRPr sz="2000">
                <a:solidFill>
                  <a:srgbClr val="2D2D2D"/>
                </a:solidFill>
                <a:latin typeface="Microsoft JhengHei"/>
              </a:defRPr>
            </a:pPr>
            <a:r>
              <a:t>但「成功 x 次」通常有很多種不同順序。</a:t>
            </a:r>
          </a:p>
          <a:p>
            <a:pPr>
              <a:spcAft>
                <a:spcPts val="900"/>
              </a:spcAft>
              <a:defRPr sz="2000">
                <a:solidFill>
                  <a:srgbClr val="2D2D2D"/>
                </a:solidFill>
                <a:latin typeface="Microsoft JhengHei"/>
              </a:defRPr>
            </a:pPr>
            <a:r>
              <a:t>C(n,x) 用來計算：n 次中成功 x 次共有幾種位置安排。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6473952"/>
            <a:ext cx="8229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E6E6E"/>
                </a:solidFill>
                <a:latin typeface="Microsoft JhengHei"/>
              </a:defRPr>
            </a:pPr>
            <a:r>
              <a:t>W13 | 23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223D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28016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  <a:latin typeface="Microsoft JhengHei"/>
              </a:defRPr>
            </a:pPr>
            <a:r>
              <a:t>二項分配｜機率公式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1828800"/>
            <a:ext cx="10332720" cy="1554480"/>
          </a:xfrm>
          <a:prstGeom prst="roundRect">
            <a:avLst/>
          </a:prstGeom>
          <a:solidFill>
            <a:srgbClr val="FFFFFF"/>
          </a:solidFill>
          <a:ln>
            <a:solidFill>
              <a:srgbClr val="3776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300" b="1">
                <a:solidFill>
                  <a:srgbClr val="223D5C"/>
                </a:solidFill>
                <a:latin typeface="Cambria Math"/>
              </a:defRPr>
            </a:pPr>
            <a:r>
              <a:t>P(X=x) = C(n,x) pˣ qⁿ⁻ˣ,   x=0,1,…,n</a:t>
            </a:r>
          </a:p>
          <a:p>
            <a:pPr algn="ctr">
              <a:defRPr sz="1600">
                <a:solidFill>
                  <a:srgbClr val="2D2D2D"/>
                </a:solidFill>
                <a:latin typeface="Microsoft JhengHei"/>
              </a:defRPr>
            </a:pPr>
            <a:r>
              <a:t>q=1−p；C(n,x) 計算成功 x 次的不同位置安排。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6473952"/>
            <a:ext cx="8229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E6E6E"/>
                </a:solidFill>
                <a:latin typeface="Microsoft JhengHei"/>
              </a:defRPr>
            </a:pPr>
            <a:r>
              <a:t>W13 | 24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223D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28016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  <a:latin typeface="Microsoft JhengHei"/>
              </a:defRPr>
            </a:pPr>
            <a:r>
              <a:t>二項分配｜期望值與變異數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1874519"/>
            <a:ext cx="10332720" cy="1554480"/>
          </a:xfrm>
          <a:prstGeom prst="roundRect">
            <a:avLst/>
          </a:prstGeom>
          <a:solidFill>
            <a:srgbClr val="FFFFFF"/>
          </a:solidFill>
          <a:ln>
            <a:solidFill>
              <a:srgbClr val="3776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600" b="1">
                <a:solidFill>
                  <a:srgbClr val="223D5C"/>
                </a:solidFill>
                <a:latin typeface="Cambria Math"/>
              </a:defRPr>
            </a:pPr>
            <a:r>
              <a:t>E(X)=n·p　　　Var(X)=n·p·q</a:t>
            </a:r>
          </a:p>
          <a:p>
            <a:pPr algn="ctr">
              <a:defRPr sz="1600">
                <a:solidFill>
                  <a:srgbClr val="2D2D2D"/>
                </a:solidFill>
                <a:latin typeface="Microsoft JhengHei"/>
              </a:defRPr>
            </a:pPr>
            <a:r>
              <a:t>原講義 6-6 的兩個基本結果。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6473952"/>
            <a:ext cx="8229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E6E6E"/>
                </a:solidFill>
                <a:latin typeface="Microsoft JhengHei"/>
              </a:defRPr>
            </a:pPr>
            <a:r>
              <a:t>W13 | 25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223D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28016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  <a:latin typeface="Microsoft JhengHei"/>
              </a:defRPr>
            </a:pPr>
            <a:r>
              <a:t>例題｜投擲公平硬幣 4 次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234440"/>
            <a:ext cx="10789920" cy="4937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900"/>
              </a:spcAft>
              <a:defRPr sz="2000">
                <a:solidFill>
                  <a:srgbClr val="2D2D2D"/>
                </a:solidFill>
                <a:latin typeface="Microsoft JhengHei"/>
              </a:defRPr>
            </a:pPr>
            <a:r>
              <a:t>令成功＝出現正面，因此 p=0.5、q=0.5。</a:t>
            </a:r>
          </a:p>
          <a:p>
            <a:pPr>
              <a:spcAft>
                <a:spcPts val="900"/>
              </a:spcAft>
              <a:defRPr sz="2000">
                <a:solidFill>
                  <a:srgbClr val="2D2D2D"/>
                </a:solidFill>
                <a:latin typeface="Microsoft JhengHei"/>
              </a:defRPr>
            </a:pPr>
            <a:r>
              <a:t>重複投擲 n=4 次，令 X＝正面出現總次數。</a:t>
            </a:r>
          </a:p>
          <a:p>
            <a:pPr>
              <a:spcAft>
                <a:spcPts val="900"/>
              </a:spcAft>
              <a:defRPr sz="2000">
                <a:solidFill>
                  <a:srgbClr val="2D2D2D"/>
                </a:solidFill>
                <a:latin typeface="Microsoft JhengHei"/>
              </a:defRPr>
            </a:pPr>
            <a:r>
              <a:t>X 可取 0、1、2、3、4。</a:t>
            </a:r>
          </a:p>
          <a:p>
            <a:pPr>
              <a:spcAft>
                <a:spcPts val="900"/>
              </a:spcAft>
              <a:defRPr sz="2000">
                <a:solidFill>
                  <a:srgbClr val="2D2D2D"/>
                </a:solidFill>
                <a:latin typeface="Microsoft JhengHei"/>
              </a:defRPr>
            </a:pPr>
            <a:r>
              <a:t>求恰好出現 2 次正面的機率。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6473952"/>
            <a:ext cx="8229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E6E6E"/>
                </a:solidFill>
                <a:latin typeface="Microsoft JhengHei"/>
              </a:defRPr>
            </a:pPr>
            <a:r>
              <a:t>W13 | 26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223D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28016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  <a:latin typeface="Microsoft JhengHei"/>
              </a:defRPr>
            </a:pPr>
            <a:r>
              <a:t>例題｜恰好成功 2 次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1828800"/>
            <a:ext cx="10332720" cy="1554480"/>
          </a:xfrm>
          <a:prstGeom prst="roundRect">
            <a:avLst/>
          </a:prstGeom>
          <a:solidFill>
            <a:srgbClr val="FFFFFF"/>
          </a:solidFill>
          <a:ln>
            <a:solidFill>
              <a:srgbClr val="3776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>
                <a:solidFill>
                  <a:srgbClr val="223D5C"/>
                </a:solidFill>
                <a:latin typeface="Cambria Math"/>
              </a:defRPr>
            </a:pPr>
            <a:r>
              <a:t>P(X=2)=C(4,2)(0.5)²(0.5)² = 6/16 = 0.375</a:t>
            </a:r>
          </a:p>
          <a:p>
            <a:pPr algn="ctr">
              <a:defRPr sz="1600">
                <a:solidFill>
                  <a:srgbClr val="2D2D2D"/>
                </a:solidFill>
                <a:latin typeface="Microsoft JhengHei"/>
              </a:defRPr>
            </a:pPr>
            <a:r>
              <a:t>「恰好 2 次」就是單一 x 值的二項機率。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6473952"/>
            <a:ext cx="8229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E6E6E"/>
                </a:solidFill>
                <a:latin typeface="Microsoft JhengHei"/>
              </a:defRPr>
            </a:pPr>
            <a:r>
              <a:t>W13 | 27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223D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28016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  <a:latin typeface="Microsoft JhengHei"/>
              </a:defRPr>
            </a:pPr>
            <a:r>
              <a:t>二項分配｜E(X) 與 Var(X) 例子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234440"/>
            <a:ext cx="10789920" cy="4937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900"/>
              </a:spcAft>
              <a:defRPr sz="2000">
                <a:solidFill>
                  <a:srgbClr val="2D2D2D"/>
                </a:solidFill>
                <a:latin typeface="Microsoft JhengHei"/>
              </a:defRPr>
            </a:pPr>
            <a:r>
              <a:t>n=4，p=0.5，q=0.5。</a:t>
            </a:r>
          </a:p>
          <a:p>
            <a:pPr>
              <a:spcAft>
                <a:spcPts val="900"/>
              </a:spcAft>
              <a:defRPr sz="2000">
                <a:solidFill>
                  <a:srgbClr val="2D2D2D"/>
                </a:solidFill>
                <a:latin typeface="Microsoft JhengHei"/>
              </a:defRPr>
            </a:pPr>
            <a:r>
              <a:t>E(X)=np=4×0.5=2。</a:t>
            </a:r>
          </a:p>
          <a:p>
            <a:pPr>
              <a:spcAft>
                <a:spcPts val="900"/>
              </a:spcAft>
              <a:defRPr sz="2000">
                <a:solidFill>
                  <a:srgbClr val="2D2D2D"/>
                </a:solidFill>
                <a:latin typeface="Microsoft JhengHei"/>
              </a:defRPr>
            </a:pPr>
            <a:r>
              <a:t>Var(X)=npq=4×0.5×0.5=1。</a:t>
            </a:r>
          </a:p>
          <a:p>
            <a:pPr>
              <a:spcAft>
                <a:spcPts val="900"/>
              </a:spcAft>
              <a:defRPr sz="2000">
                <a:solidFill>
                  <a:srgbClr val="2D2D2D"/>
                </a:solidFill>
                <a:latin typeface="Microsoft JhengHei"/>
              </a:defRPr>
            </a:pPr>
            <a:r>
              <a:t>長期而言，4 次投擲平均約出現 2 次正面。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6473952"/>
            <a:ext cx="8229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E6E6E"/>
                </a:solidFill>
                <a:latin typeface="Microsoft JhengHei"/>
              </a:defRPr>
            </a:pPr>
            <a:r>
              <a:t>W13 | 28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223D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28016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  <a:latin typeface="Microsoft JhengHei"/>
              </a:defRPr>
            </a:pPr>
            <a:r>
              <a:t>柏努利 vs. 二項分配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914400" y="1280160"/>
          <a:ext cx="10332720" cy="4297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44240"/>
                <a:gridCol w="3444240"/>
                <a:gridCol w="3444240"/>
              </a:tblGrid>
              <a:tr h="859536">
                <a:tc>
                  <a:txBody>
                    <a:bodyPr/>
                    <a:lstStyle/>
                    <a:p>
                      <a:pPr algn="ctr">
                        <a:defRPr sz="1700" b="1">
                          <a:solidFill>
                            <a:srgbClr val="2D2D2D"/>
                          </a:solidFill>
                          <a:latin typeface="Microsoft JhengHei"/>
                        </a:defRPr>
                      </a:pPr>
                      <a:r>
                        <a:t>比較</a:t>
                      </a:r>
                    </a:p>
                  </a:txBody>
                  <a:tcPr>
                    <a:solidFill>
                      <a:srgbClr val="D7E2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700" b="1">
                          <a:solidFill>
                            <a:srgbClr val="2D2D2D"/>
                          </a:solidFill>
                          <a:latin typeface="Microsoft JhengHei"/>
                        </a:defRPr>
                      </a:pPr>
                      <a:r>
                        <a:t>柏努利分配</a:t>
                      </a:r>
                    </a:p>
                  </a:txBody>
                  <a:tcPr>
                    <a:solidFill>
                      <a:srgbClr val="D7E2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700" b="1">
                          <a:solidFill>
                            <a:srgbClr val="2D2D2D"/>
                          </a:solidFill>
                          <a:latin typeface="Microsoft JhengHei"/>
                        </a:defRPr>
                      </a:pPr>
                      <a:r>
                        <a:t>二項分配</a:t>
                      </a:r>
                    </a:p>
                  </a:txBody>
                  <a:tcPr>
                    <a:solidFill>
                      <a:srgbClr val="D7E2E7"/>
                    </a:solidFill>
                  </a:tcPr>
                </a:tc>
              </a:tr>
              <a:tr h="859536">
                <a:tc>
                  <a:txBody>
                    <a:bodyPr/>
                    <a:lstStyle/>
                    <a:p>
                      <a:pPr algn="ctr">
                        <a:defRPr sz="1700" b="0">
                          <a:solidFill>
                            <a:srgbClr val="2D2D2D"/>
                          </a:solidFill>
                          <a:latin typeface="Microsoft JhengHei"/>
                        </a:defRPr>
                      </a:pPr>
                      <a:r>
                        <a:t>實驗次數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700" b="0">
                          <a:solidFill>
                            <a:srgbClr val="2D2D2D"/>
                          </a:solidFill>
                          <a:latin typeface="Microsoft JhengHei"/>
                        </a:defRPr>
                      </a:pPr>
                      <a:r>
                        <a:t>1 次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700" b="0">
                          <a:solidFill>
                            <a:srgbClr val="2D2D2D"/>
                          </a:solidFill>
                          <a:latin typeface="Microsoft JhengHei"/>
                        </a:defRPr>
                      </a:pPr>
                      <a:r>
                        <a:t>固定 n 次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859536">
                <a:tc>
                  <a:txBody>
                    <a:bodyPr/>
                    <a:lstStyle/>
                    <a:p>
                      <a:pPr algn="ctr">
                        <a:defRPr sz="1700" b="0">
                          <a:solidFill>
                            <a:srgbClr val="2D2D2D"/>
                          </a:solidFill>
                          <a:latin typeface="Microsoft JhengHei"/>
                        </a:defRPr>
                      </a:pPr>
                      <a:r>
                        <a:t>X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700" b="0">
                          <a:solidFill>
                            <a:srgbClr val="2D2D2D"/>
                          </a:solidFill>
                          <a:latin typeface="Microsoft JhengHei"/>
                        </a:defRPr>
                      </a:pPr>
                      <a:r>
                        <a:t>0 或 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700" b="0">
                          <a:solidFill>
                            <a:srgbClr val="2D2D2D"/>
                          </a:solidFill>
                          <a:latin typeface="Microsoft JhengHei"/>
                        </a:defRPr>
                      </a:pPr>
                      <a:r>
                        <a:t>0,1,…,n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859536">
                <a:tc>
                  <a:txBody>
                    <a:bodyPr/>
                    <a:lstStyle/>
                    <a:p>
                      <a:pPr algn="ctr">
                        <a:defRPr sz="1700" b="0">
                          <a:solidFill>
                            <a:srgbClr val="2D2D2D"/>
                          </a:solidFill>
                          <a:latin typeface="Microsoft JhengHei"/>
                        </a:defRPr>
                      </a:pPr>
                      <a:r>
                        <a:t>期望值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700" b="0">
                          <a:solidFill>
                            <a:srgbClr val="2D2D2D"/>
                          </a:solidFill>
                          <a:latin typeface="Microsoft JhengHei"/>
                        </a:defRPr>
                      </a:pPr>
                      <a:r>
                        <a:t>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700" b="0">
                          <a:solidFill>
                            <a:srgbClr val="2D2D2D"/>
                          </a:solidFill>
                          <a:latin typeface="Microsoft JhengHei"/>
                        </a:defRPr>
                      </a:pPr>
                      <a:r>
                        <a:t>np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859536">
                <a:tc>
                  <a:txBody>
                    <a:bodyPr/>
                    <a:lstStyle/>
                    <a:p>
                      <a:pPr algn="ctr">
                        <a:defRPr sz="1700" b="0">
                          <a:solidFill>
                            <a:srgbClr val="2D2D2D"/>
                          </a:solidFill>
                          <a:latin typeface="Microsoft JhengHei"/>
                        </a:defRPr>
                      </a:pPr>
                      <a:r>
                        <a:t>變異數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700" b="0">
                          <a:solidFill>
                            <a:srgbClr val="2D2D2D"/>
                          </a:solidFill>
                          <a:latin typeface="Microsoft JhengHei"/>
                        </a:defRPr>
                      </a:pPr>
                      <a:r>
                        <a:t>pq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700" b="0">
                          <a:solidFill>
                            <a:srgbClr val="2D2D2D"/>
                          </a:solidFill>
                          <a:latin typeface="Microsoft JhengHei"/>
                        </a:defRPr>
                      </a:pPr>
                      <a:r>
                        <a:t>npq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10789920" y="6473952"/>
            <a:ext cx="8229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E6E6E"/>
                </a:solidFill>
                <a:latin typeface="Microsoft JhengHei"/>
              </a:defRPr>
            </a:pPr>
            <a:r>
              <a:t>W13 | 29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223D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28016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  <a:latin typeface="Microsoft JhengHei"/>
              </a:defRPr>
            </a:pPr>
            <a:r>
              <a:t>看到題目如何判斷二項分配？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234440"/>
            <a:ext cx="10789920" cy="4937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900"/>
              </a:spcAft>
              <a:defRPr sz="2000">
                <a:solidFill>
                  <a:srgbClr val="2D2D2D"/>
                </a:solidFill>
                <a:latin typeface="Microsoft JhengHei"/>
              </a:defRPr>
            </a:pPr>
            <a:r>
              <a:t>題目有沒有固定 n 次？</a:t>
            </a:r>
          </a:p>
          <a:p>
            <a:pPr>
              <a:spcAft>
                <a:spcPts val="900"/>
              </a:spcAft>
              <a:defRPr sz="2000">
                <a:solidFill>
                  <a:srgbClr val="2D2D2D"/>
                </a:solidFill>
                <a:latin typeface="Microsoft JhengHei"/>
              </a:defRPr>
            </a:pPr>
            <a:r>
              <a:t>每次是不是只有兩種結果？</a:t>
            </a:r>
          </a:p>
          <a:p>
            <a:pPr>
              <a:spcAft>
                <a:spcPts val="900"/>
              </a:spcAft>
              <a:defRPr sz="2000">
                <a:solidFill>
                  <a:srgbClr val="2D2D2D"/>
                </a:solidFill>
                <a:latin typeface="Microsoft JhengHei"/>
              </a:defRPr>
            </a:pPr>
            <a:r>
              <a:t>各次是否可視為獨立？</a:t>
            </a:r>
          </a:p>
          <a:p>
            <a:pPr>
              <a:spcAft>
                <a:spcPts val="900"/>
              </a:spcAft>
              <a:defRPr sz="2000">
                <a:solidFill>
                  <a:srgbClr val="2D2D2D"/>
                </a:solidFill>
                <a:latin typeface="Microsoft JhengHei"/>
              </a:defRPr>
            </a:pPr>
            <a:r>
              <a:t>成功機率 p 是否每次相同？</a:t>
            </a:r>
          </a:p>
          <a:p>
            <a:pPr>
              <a:spcAft>
                <a:spcPts val="900"/>
              </a:spcAft>
              <a:defRPr sz="2000">
                <a:solidFill>
                  <a:srgbClr val="2D2D2D"/>
                </a:solidFill>
                <a:latin typeface="Microsoft JhengHei"/>
              </a:defRPr>
            </a:pPr>
            <a:r>
              <a:t>X 問的是 n 次中的「成功總次數」嗎？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6473952"/>
            <a:ext cx="8229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E6E6E"/>
                </a:solidFill>
                <a:latin typeface="Microsoft JhengHei"/>
              </a:defRPr>
            </a:pPr>
            <a:r>
              <a:t>W13 | 30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223D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28016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  <a:latin typeface="Microsoft JhengHei"/>
              </a:defRPr>
            </a:pPr>
            <a:r>
              <a:t>本週整合｜一條主線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234440"/>
            <a:ext cx="10789920" cy="4937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900"/>
              </a:spcAft>
              <a:defRPr sz="2000">
                <a:solidFill>
                  <a:srgbClr val="2D2D2D"/>
                </a:solidFill>
                <a:latin typeface="Microsoft JhengHei"/>
              </a:defRPr>
            </a:pPr>
            <a:r>
              <a:t>柏努利：做 1 次，X=0 或 1。</a:t>
            </a:r>
          </a:p>
          <a:p>
            <a:pPr>
              <a:spcAft>
                <a:spcPts val="900"/>
              </a:spcAft>
              <a:defRPr sz="2000">
                <a:solidFill>
                  <a:srgbClr val="2D2D2D"/>
                </a:solidFill>
                <a:latin typeface="Microsoft JhengHei"/>
              </a:defRPr>
            </a:pPr>
            <a:r>
              <a:t>二項：把同一類柏努利實驗獨立重複 n 次。</a:t>
            </a:r>
          </a:p>
          <a:p>
            <a:pPr>
              <a:spcAft>
                <a:spcPts val="900"/>
              </a:spcAft>
              <a:defRPr sz="2000">
                <a:solidFill>
                  <a:srgbClr val="2D2D2D"/>
                </a:solidFill>
                <a:latin typeface="Microsoft JhengHei"/>
              </a:defRPr>
            </a:pPr>
            <a:r>
              <a:t>二項隨機變數 X＝n 次中的成功總次數。</a:t>
            </a:r>
          </a:p>
          <a:p>
            <a:pPr>
              <a:spcAft>
                <a:spcPts val="900"/>
              </a:spcAft>
              <a:defRPr sz="2000">
                <a:solidFill>
                  <a:srgbClr val="2D2D2D"/>
                </a:solidFill>
                <a:latin typeface="Microsoft JhengHei"/>
              </a:defRPr>
            </a:pPr>
            <a:r>
              <a:t>機率公式用 C(n,x) 計算成功位置的不同安排。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6473952"/>
            <a:ext cx="8229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E6E6E"/>
                </a:solidFill>
                <a:latin typeface="Microsoft JhengHei"/>
              </a:defRPr>
            </a:pPr>
            <a:r>
              <a:t>W13 | 31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223D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28016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  <a:latin typeface="Microsoft JhengHei"/>
              </a:defRPr>
            </a:pPr>
            <a:r>
              <a:t>離開教室前｜1 分鐘檢核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234440"/>
            <a:ext cx="10789920" cy="4937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900"/>
              </a:spcAft>
              <a:defRPr sz="2000">
                <a:solidFill>
                  <a:srgbClr val="2D2D2D"/>
                </a:solidFill>
                <a:latin typeface="Microsoft JhengHei"/>
              </a:defRPr>
            </a:pPr>
            <a:r>
              <a:t>柏努利分配的 X 只能取哪兩個值？</a:t>
            </a:r>
          </a:p>
          <a:p>
            <a:pPr>
              <a:spcAft>
                <a:spcPts val="900"/>
              </a:spcAft>
              <a:defRPr sz="2000">
                <a:solidFill>
                  <a:srgbClr val="2D2D2D"/>
                </a:solidFill>
                <a:latin typeface="Microsoft JhengHei"/>
              </a:defRPr>
            </a:pPr>
            <a:r>
              <a:t>二項分配的四個核心條件中，你最容易忘記哪一個？</a:t>
            </a:r>
          </a:p>
          <a:p>
            <a:pPr>
              <a:spcAft>
                <a:spcPts val="900"/>
              </a:spcAft>
              <a:defRPr sz="2000">
                <a:solidFill>
                  <a:srgbClr val="2D2D2D"/>
                </a:solidFill>
                <a:latin typeface="Microsoft JhengHei"/>
              </a:defRPr>
            </a:pPr>
            <a:r>
              <a:t>若 n=5、p=0.2，則 E(X)=？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6473952"/>
            <a:ext cx="8229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E6E6E"/>
                </a:solidFill>
                <a:latin typeface="Microsoft JhengHei"/>
              </a:defRPr>
            </a:pPr>
            <a:r>
              <a:t>W13 | 32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