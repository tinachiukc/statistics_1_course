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800">
                <a:solidFill>
                  <a:srgbClr val="377678"/>
                </a:solidFill>
                <a:latin typeface="Microsoft JhengHei"/>
              </a:defRPr>
            </a:pPr>
            <a:r>
              <a:t>Week 03｜集中趨勢量數（一）：算術平均數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D2D2D"/>
                </a:solidFill>
                <a:latin typeface="Microsoft JhengHei"/>
              </a:defRPr>
            </a:pPr>
            <a:r>
              <a:t>一群資料很多個數字，能不能用一個數字說出它大約在哪裡？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理解「集中趨勢量數」的用途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知道常見集中趨勢量數有哪些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區分母體平均數 μ 與樣本平均數 x̄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計算原始資料的算術平均數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利用次數分配表計算分組資料的平均數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說明平均數的優點與使用限制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W02 到 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W02：把原始資料整理成表與圖。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W03：進一步用一個代表值描述一群資料的「中心位置」。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本週先專心處理最熟悉、也最常使用的算術平均數。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3｜描述一群資料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舊教材指出，描述一群資料常從四個方向觀察：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集中趨勢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離中趨勢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偏態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峰度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本週先從「集中趨勢」開始。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1｜什麼是集中趨勢量數？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集中趨勢量數也稱為位置量數（measures of central tendency）。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目的：用一個具有代表性的數值，描述一群資料大致集中在哪個位置。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它不是把所有資料都說完，而是先回答：「這群資料的中心大約在哪裡？」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常見的集中趨勢量數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幾何平均數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中位數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四分位數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眾數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截尾算術平均數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加權算術平均數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本週範圍｜先把平均數學好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W03：集中趨勢概念＋算術平均數。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W04：幾何平均數、中位數、分位數、眾數、截尾平均數、加權平均數與比較。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因此今天不急著把所有代表值一次塞完。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2｜算術平均數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算術平均數通常直接簡稱為「平均數」。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舊教材指出：適用於等距尺度與比率尺度變數。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計算概念很簡單：所有觀測值加總，再除以觀測值個數。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母體平均數與樣本平均數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母體平均數以 μ 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樣本平均數以 x̄ 表示。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符號不同，是因為一個描述母體參數，一個描述樣本統計量。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原始資料｜母體平均數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965960"/>
            <a:ext cx="9418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23D5C"/>
                </a:solidFill>
                <a:latin typeface="Cambria Math"/>
              </a:defRPr>
            </a:pPr>
            <a:r>
              <a:t>μ = (Σ Xᵢ) / N</a:t>
            </a:r>
          </a:p>
          <a:p>
            <a:pPr algn="ctr">
              <a:defRPr sz="1700">
                <a:solidFill>
                  <a:srgbClr val="2D2D2D"/>
                </a:solidFill>
                <a:latin typeface="Microsoft JhengHei"/>
              </a:defRPr>
            </a:pPr>
            <a:r>
              <a:t>N：母體觀測值個數；Xᵢ：第 i 個觀測值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描述整個母體的平均水準。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原始資料｜樣本平均數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965960"/>
            <a:ext cx="9418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23D5C"/>
                </a:solidFill>
                <a:latin typeface="Cambria Math"/>
              </a:defRPr>
            </a:pPr>
            <a:r>
              <a:t>x̄ = (Σ Xᵢ) / n</a:t>
            </a:r>
          </a:p>
          <a:p>
            <a:pPr algn="ctr">
              <a:defRPr sz="1700">
                <a:solidFill>
                  <a:srgbClr val="2D2D2D"/>
                </a:solidFill>
                <a:latin typeface="Microsoft JhengHei"/>
              </a:defRPr>
            </a:pPr>
            <a:r>
              <a:t>n：樣本觀測值個數；x̄ 是樣本統計量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77639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由樣本資料計算得到，之後可用於推論母體。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1｜五位學生的成績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五位學生統計小考成績：60、70、75、80、90。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平均數＝(60＋70＋75＋80＋90) ÷ 5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＝375 ÷ 5＝75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所以這五人成績的中心位置可用 75 分描述。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平均數的直覺｜「公平分配」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把全部數值加總後，平均分給每一個觀測值。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平均數可以想成：如果總量不變，大家都變成一樣多時，每一個會是多少？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這個直覺有助於理解平均數，但正式計算仍依公式。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課堂小練習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某學生五天的行動支付筆數為：3、5、4、6、2。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請先估計平均數大約在哪裡，再正式計算。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Σx＝？　n＝？　x̄＝？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3｜分組資料也能算平均數嗎？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可以，但我們已經看不到每一筆原始資料。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舊教材的作法：以各組「組中點」代表該組所有資料。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因此分組資料算出的平均數通常是原始資料平均數的近似值。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組中點怎麼找？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組中點 m＝（下界＋上界）÷ 2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 40–50 的組中點＝45。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50–60 的組中點＝55。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接著用組中點乘上該組次數。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分組資料平均數｜計算公式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23D5C"/>
                </a:solidFill>
                <a:latin typeface="Cambria Math"/>
              </a:defRPr>
            </a:pPr>
            <a:r>
              <a:t>x̄ = (Σ mᵢ fᵢ) / n</a:t>
            </a:r>
          </a:p>
          <a:p>
            <a:pPr algn="ctr">
              <a:defRPr sz="1700">
                <a:solidFill>
                  <a:srgbClr val="2D2D2D"/>
                </a:solidFill>
                <a:latin typeface="Microsoft JhengHei"/>
              </a:defRPr>
            </a:pPr>
            <a:r>
              <a:t>mᵢ：第 i 組組中點；fᵢ：第 i 組次數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核心做法：組中點 × 次數 → 加總 → 除以總次數。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2｜分組成績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成績組別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40–50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50–60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60–70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70–80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80–90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組中點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次數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m×f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1663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總次數 n＝20；Σmf＝1,330。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 2｜一步一步算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Σmf＝45×2＋55×4＋65×6＋75×5＋85×3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＝90＋220＋390＋375＋255＝1,330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n＝2＋4＋6＋5＋3＝20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x̄＝1,330 ÷ 20＝66.5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為什麼分組平均數只是近似？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因為我們用「組中點」代表該組內的所有資料。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實際資料不一定真的全部等於組中點。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所以從分組次數表算出的平均數，通常只是很接近原始資料的平均數。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4｜平均數的優點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概念清楚、計算容易。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計算時會使用到每一個觀測值。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在許多後續統計方法中都會繼續使用平均數。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同一組資料的算術平均數是唯一的。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平均數的限制｜極端值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舊教材特別提醒：極端值會對算術平均數產生很大影響。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例：30、32、35、36、200。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平均數＝66.6，但 66.6 並不像多數人的典型數值。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所以「平均」不一定永遠最有代表性。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極端值前後比較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448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資料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平均數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沒有極端值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最後一筆改為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00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只改一筆資料，平均數就由 34.6 大幅變成 66.6。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平均數的限制｜開放組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若次數分配表含有開放組，例如「80 以上」，就無法知道該組的組中點。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沒有組中點，就無法依分組資料公式計算完整平均數。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這也是舊教材列出的平均數使用限制之一。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平均數不是看到數字就算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先確認資料尺度：算術平均數適用於等距與比率尺度。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再確認資料是否存在明顯極端值。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若是分組資料，注意平均數只是近似值。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若含開放組，組中點無法確定。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本週整合｜平均數的三種判斷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會算：原始資料與分組資料平均數。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會分：μ 是母體平均數，x̄ 是樣本平均數。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會判斷：平均數何時有代表性？何時需要小心？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 4、6、8、10 的平均數是多少？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分組資料為什麼要用組中點？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若資料中出現一個非常大的極端值，平均數通常會受到什麼影響？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W03 |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