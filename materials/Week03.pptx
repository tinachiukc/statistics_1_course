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83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3776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058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223D5C"/>
                </a:solidFill>
                <a:latin typeface="Microsoft JhengHei"/>
              </a:defRPr>
            </a:pPr>
            <a:r>
              <a:t>統計學（一）</a:t>
            </a:r>
          </a:p>
          <a:p>
            <a:pPr>
              <a:defRPr sz="2800">
                <a:solidFill>
                  <a:srgbClr val="377678"/>
                </a:solidFill>
                <a:latin typeface="Microsoft JhengHei"/>
              </a:defRPr>
            </a:pPr>
            <a:r>
              <a:t>Week 03｜集中趨勢量數（一）：算術平均數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977639"/>
            <a:ext cx="996696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7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2D2D2D"/>
                </a:solidFill>
                <a:latin typeface="Microsoft JhengHei"/>
              </a:defRPr>
            </a:pPr>
            <a:r>
              <a:t>一群資料很多個數字，能不能用一個數字說出它大約在哪裡？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本週學習目標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85800" y="1234440"/>
                <a:ext cx="10789920" cy="24496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900"/>
                  </a:spcAft>
                  <a:defRPr sz="1900">
                    <a:solidFill>
                      <a:srgbClr val="2D2D2D"/>
                    </a:solidFill>
                    <a:latin typeface="Microsoft JhengHei"/>
                  </a:defRPr>
                </a:pPr>
                <a:r>
                  <a:rPr lang="zh-TW" altLang="en-US" dirty="0"/>
                  <a:t>理解「集中趨勢量數」的用途</a:t>
                </a:r>
              </a:p>
              <a:p>
                <a:pPr>
                  <a:spcAft>
                    <a:spcPts val="900"/>
                  </a:spcAft>
                  <a:defRPr sz="1900">
                    <a:solidFill>
                      <a:srgbClr val="2D2D2D"/>
                    </a:solidFill>
                    <a:latin typeface="Microsoft JhengHei"/>
                  </a:defRPr>
                </a:pPr>
                <a:r>
                  <a:rPr lang="zh-TW" altLang="en-US" dirty="0"/>
                  <a:t>知道常見集中趨勢量數有哪些</a:t>
                </a:r>
              </a:p>
              <a:p>
                <a:pPr>
                  <a:spcAft>
                    <a:spcPts val="900"/>
                  </a:spcAft>
                  <a:defRPr sz="1900">
                    <a:solidFill>
                      <a:srgbClr val="2D2D2D"/>
                    </a:solidFill>
                    <a:latin typeface="Microsoft JhengHei"/>
                  </a:defRPr>
                </a:pPr>
                <a:r>
                  <a:rPr lang="zh-TW" altLang="en-US" dirty="0"/>
                  <a:t>區分母體平均數 </a:t>
                </a:r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altLang="zh-TW" dirty="0"/>
                  <a:t> </a:t>
                </a:r>
                <a:r>
                  <a:rPr lang="zh-TW" altLang="en-US" dirty="0"/>
                  <a:t>與樣本平均數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endParaRPr lang="en-US" altLang="zh-TW" dirty="0"/>
              </a:p>
              <a:p>
                <a:pPr>
                  <a:spcAft>
                    <a:spcPts val="900"/>
                  </a:spcAft>
                  <a:defRPr sz="1900">
                    <a:solidFill>
                      <a:srgbClr val="2D2D2D"/>
                    </a:solidFill>
                    <a:latin typeface="Microsoft JhengHei"/>
                  </a:defRPr>
                </a:pPr>
                <a:r>
                  <a:rPr lang="zh-TW" altLang="en-US" dirty="0"/>
                  <a:t>計算原始資料的算術平均數</a:t>
                </a:r>
              </a:p>
              <a:p>
                <a:pPr>
                  <a:spcAft>
                    <a:spcPts val="900"/>
                  </a:spcAft>
                  <a:defRPr sz="1900">
                    <a:solidFill>
                      <a:srgbClr val="2D2D2D"/>
                    </a:solidFill>
                    <a:latin typeface="Microsoft JhengHei"/>
                  </a:defRPr>
                </a:pPr>
                <a:r>
                  <a:rPr lang="zh-TW" altLang="en-US" dirty="0"/>
                  <a:t>利用次數分配表計算分組資料的平均數</a:t>
                </a:r>
              </a:p>
              <a:p>
                <a:pPr>
                  <a:spcAft>
                    <a:spcPts val="900"/>
                  </a:spcAft>
                  <a:defRPr sz="1900">
                    <a:solidFill>
                      <a:srgbClr val="2D2D2D"/>
                    </a:solidFill>
                    <a:latin typeface="Microsoft JhengHei"/>
                  </a:defRPr>
                </a:pPr>
                <a:r>
                  <a:rPr lang="zh-TW" altLang="en-US" dirty="0"/>
                  <a:t>說明平均數的優點與使用限制</a:t>
                </a:r>
                <a:endParaRPr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1234440"/>
                <a:ext cx="10789920" cy="2449645"/>
              </a:xfrm>
              <a:prstGeom prst="rect">
                <a:avLst/>
              </a:prstGeom>
              <a:blipFill>
                <a:blip r:embed="rId2"/>
                <a:stretch>
                  <a:fillRect l="-565" t="-1247" b="-224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從 W02 到 W03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W02：把原始資料整理成表與圖。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W03：進一步用一個代表值描述一群資料的「中心位置」。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本週先專心處理最熟悉、也最常使用的算術平均數。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Chapter 3｜描述一群資料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D2D2D"/>
                </a:solidFill>
                <a:latin typeface="Microsoft JhengHei"/>
              </a:defRPr>
            </a:pPr>
            <a:r>
              <a:t>描述一群資料，通常可以從四個方向觀察：</a:t>
            </a:r>
          </a:p>
          <a:p>
            <a:pPr>
              <a:spcAft>
                <a:spcPts val="900"/>
              </a:spcAft>
              <a:defRPr sz="1900">
                <a:solidFill>
                  <a:srgbClr val="2D2D2D"/>
                </a:solidFill>
                <a:latin typeface="Microsoft JhengHei"/>
              </a:defRPr>
            </a:pPr>
            <a:r>
              <a:t>集中趨勢</a:t>
            </a:r>
          </a:p>
          <a:p>
            <a:pPr>
              <a:spcAft>
                <a:spcPts val="900"/>
              </a:spcAft>
              <a:defRPr sz="1900">
                <a:solidFill>
                  <a:srgbClr val="2D2D2D"/>
                </a:solidFill>
                <a:latin typeface="Microsoft JhengHei"/>
              </a:defRPr>
            </a:pPr>
            <a:r>
              <a:t>離中趨勢</a:t>
            </a:r>
          </a:p>
          <a:p>
            <a:pPr>
              <a:spcAft>
                <a:spcPts val="900"/>
              </a:spcAft>
              <a:defRPr sz="1900">
                <a:solidFill>
                  <a:srgbClr val="2D2D2D"/>
                </a:solidFill>
                <a:latin typeface="Microsoft JhengHei"/>
              </a:defRPr>
            </a:pPr>
            <a:r>
              <a:t>偏態</a:t>
            </a:r>
          </a:p>
          <a:p>
            <a:pPr>
              <a:spcAft>
                <a:spcPts val="900"/>
              </a:spcAft>
              <a:defRPr sz="1900">
                <a:solidFill>
                  <a:srgbClr val="2D2D2D"/>
                </a:solidFill>
                <a:latin typeface="Microsoft JhengHei"/>
              </a:defRPr>
            </a:pPr>
            <a:r>
              <a:t>峰度</a:t>
            </a:r>
          </a:p>
          <a:p>
            <a:pPr>
              <a:spcAft>
                <a:spcPts val="900"/>
              </a:spcAft>
              <a:defRPr sz="1900">
                <a:solidFill>
                  <a:srgbClr val="2D2D2D"/>
                </a:solidFill>
                <a:latin typeface="Microsoft JhengHei"/>
              </a:defRPr>
            </a:pPr>
            <a:r>
              <a:t>本週先從「集中趨勢」開始。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1｜什麼是集中趨勢量數？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集中趨勢量數也稱為位置量數（</a:t>
            </a:r>
            <a:r>
              <a:rPr 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measures of central tendency）。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目的：用一個具有代表性的數值，描述一群資料大致集中在哪個位置。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它不用描述所有資料，只需示：「這群資料的中心大約在哪裡？」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常見的集中趨勢量數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D2D2D"/>
                </a:solidFill>
                <a:latin typeface="Microsoft JhengHei"/>
              </a:defRPr>
            </a:pPr>
            <a:r>
              <a:t>算術平均數</a:t>
            </a:r>
          </a:p>
          <a:p>
            <a:pPr>
              <a:spcAft>
                <a:spcPts val="900"/>
              </a:spcAft>
              <a:defRPr sz="1900">
                <a:solidFill>
                  <a:srgbClr val="2D2D2D"/>
                </a:solidFill>
                <a:latin typeface="Microsoft JhengHei"/>
              </a:defRPr>
            </a:pPr>
            <a:r>
              <a:t>幾何平均數</a:t>
            </a:r>
          </a:p>
          <a:p>
            <a:pPr>
              <a:spcAft>
                <a:spcPts val="900"/>
              </a:spcAft>
              <a:defRPr sz="1900">
                <a:solidFill>
                  <a:srgbClr val="2D2D2D"/>
                </a:solidFill>
                <a:latin typeface="Microsoft JhengHei"/>
              </a:defRPr>
            </a:pPr>
            <a:r>
              <a:t>中位數</a:t>
            </a:r>
          </a:p>
          <a:p>
            <a:pPr>
              <a:spcAft>
                <a:spcPts val="900"/>
              </a:spcAft>
              <a:defRPr sz="1900">
                <a:solidFill>
                  <a:srgbClr val="2D2D2D"/>
                </a:solidFill>
                <a:latin typeface="Microsoft JhengHei"/>
              </a:defRPr>
            </a:pPr>
            <a:r>
              <a:t>四分位數</a:t>
            </a:r>
          </a:p>
          <a:p>
            <a:pPr>
              <a:spcAft>
                <a:spcPts val="900"/>
              </a:spcAft>
              <a:defRPr sz="1900">
                <a:solidFill>
                  <a:srgbClr val="2D2D2D"/>
                </a:solidFill>
                <a:latin typeface="Microsoft JhengHei"/>
              </a:defRPr>
            </a:pPr>
            <a:r>
              <a:t>眾數</a:t>
            </a:r>
          </a:p>
          <a:p>
            <a:pPr>
              <a:spcAft>
                <a:spcPts val="900"/>
              </a:spcAft>
              <a:defRPr sz="1900">
                <a:solidFill>
                  <a:srgbClr val="2D2D2D"/>
                </a:solidFill>
                <a:latin typeface="Microsoft JhengHei"/>
              </a:defRPr>
            </a:pPr>
            <a:r>
              <a:t>截尾算術平均數</a:t>
            </a:r>
          </a:p>
          <a:p>
            <a:pPr>
              <a:spcAft>
                <a:spcPts val="900"/>
              </a:spcAft>
              <a:defRPr sz="1900">
                <a:solidFill>
                  <a:srgbClr val="2D2D2D"/>
                </a:solidFill>
                <a:latin typeface="Microsoft JhengHei"/>
              </a:defRPr>
            </a:pPr>
            <a:r>
              <a:t>加權算術平均數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本週範圍｜先把平均數學好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8233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rPr dirty="0"/>
              <a:t>W03：集中趨勢概念＋算術平均數。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rPr dirty="0"/>
              <a:t>W04：幾何平均數、中位數、分位數、眾數、截尾平均數、加權平均數與比較。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2｜算術平均數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算術平均數通常直接簡稱為「平均數」。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適用於等距尺度與比率尺度變數。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計算概念很簡單：所有觀測值加總，再除以觀測值個數。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母體平均數與樣本平均數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母體平均數以𝜇 表示。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樣本平均數以 𝑥 ̅表示。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符號不同，是因為一個描述母體參數，一個描述樣本統計量。</a:t>
            </a:r>
            <a:endParaRPr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原始資料｜母體平均數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965960"/>
            <a:ext cx="94183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3776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223D5C"/>
                </a:solidFill>
                <a:latin typeface="Cambria Math"/>
              </a:defRPr>
            </a:pPr>
            <a:r>
              <a:t>μ = (Σ Xᵢ) / N</a:t>
            </a:r>
          </a:p>
          <a:p>
            <a:pPr algn="ctr">
              <a:defRPr sz="1700">
                <a:solidFill>
                  <a:srgbClr val="2D2D2D"/>
                </a:solidFill>
                <a:latin typeface="Microsoft JhengHei"/>
              </a:defRPr>
            </a:pPr>
            <a:r>
              <a:t>N：母體觀測值個數；Xᵢ：第 i 個觀測值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D2D2D"/>
                </a:solidFill>
                <a:latin typeface="Microsoft JhengHei"/>
              </a:defRPr>
            </a:pPr>
            <a:r>
              <a:t>描述整個母體的平均水準。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原始資料｜樣本平均數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965960"/>
            <a:ext cx="94183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3776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223D5C"/>
                </a:solidFill>
                <a:latin typeface="Cambria Math"/>
              </a:defRPr>
            </a:pPr>
            <a:r>
              <a:t>x̄ = (Σ Xᵢ) / n</a:t>
            </a:r>
          </a:p>
          <a:p>
            <a:pPr algn="ctr">
              <a:defRPr sz="1700">
                <a:solidFill>
                  <a:srgbClr val="2D2D2D"/>
                </a:solidFill>
                <a:latin typeface="Microsoft JhengHei"/>
              </a:defRPr>
            </a:pPr>
            <a:r>
              <a:t>n：樣本觀測值個數；x̄ 是樣本統計量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D2D2D"/>
                </a:solidFill>
                <a:latin typeface="Microsoft JhengHei"/>
              </a:defRPr>
            </a:pPr>
            <a:r>
              <a:t>由樣本資料計算得到，之後可用於推論母體。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例題 1｜五位學生的成績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五位學生統計小考成績：60、70、75、80、90。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平均數＝(60＋70＋75＋80＋90) ÷ 5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＝375 ÷ 5＝75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所以這五人成績的中心位置可用 75 分描述。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平均數的直覺｜「公平分配」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把全部數值加總後，平均分給每一個觀測值。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平均數可以想成：如果總量不變，大家都變成一樣多時，每一個會是多少？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這個直覺有助於理解平均數，但正式計算仍依公式。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課堂小練習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某學生五天的行動支付筆數為：3、5、4、6、2。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請先估計平均數大約在哪裡，再正式計算。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Σx＝？　n＝？　x̄＝？</a:t>
            </a:r>
          </a:p>
          <a:p>
            <a:r>
              <a:t>答案：Σx＝20，n＝5，x̄＝20÷5＝4（筆）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重要特性｜不同人數的兩組，不能直接平均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2459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rPr lang="zh-TW" altLang="en-US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甲班 </a:t>
            </a:r>
            <a:r>
              <a:rPr lang="en-US" altLang="zh-TW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40 </a:t>
            </a:r>
            <a:r>
              <a:rPr lang="zh-TW" altLang="en-US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人，平均 </a:t>
            </a:r>
            <a:r>
              <a:rPr lang="en-US" altLang="zh-TW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75 </a:t>
            </a:r>
            <a:r>
              <a:rPr lang="zh-TW" altLang="en-US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分；乙班 </a:t>
            </a:r>
            <a:r>
              <a:rPr lang="en-US" altLang="zh-TW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60 </a:t>
            </a:r>
            <a:r>
              <a:rPr lang="zh-TW" altLang="en-US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人，平均 </a:t>
            </a:r>
            <a:r>
              <a:rPr lang="en-US" altLang="zh-TW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80 </a:t>
            </a:r>
            <a:r>
              <a:rPr lang="zh-TW" altLang="en-US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分。</a:t>
            </a:r>
          </a:p>
          <a:p>
            <a:pPr algn="just">
              <a:lnSpc>
                <a:spcPct val="150000"/>
              </a:lnSpc>
            </a:pPr>
            <a:r>
              <a:rPr lang="zh-TW" altLang="en-US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兩班合起來的平均是多少？</a:t>
            </a:r>
          </a:p>
          <a:p>
            <a:pPr algn="just">
              <a:lnSpc>
                <a:spcPct val="150000"/>
              </a:lnSpc>
            </a:pPr>
            <a:r>
              <a:rPr lang="zh-TW" altLang="en-US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不能直接算 </a:t>
            </a:r>
            <a:r>
              <a:rPr lang="en-US" altLang="zh-TW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(75</a:t>
            </a:r>
            <a:r>
              <a:rPr lang="zh-TW" altLang="en-US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＋</a:t>
            </a:r>
            <a:r>
              <a:rPr lang="en-US" altLang="zh-TW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80)÷2</a:t>
            </a:r>
            <a:r>
              <a:rPr lang="zh-TW" altLang="en-US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，因為兩班人數不同。</a:t>
            </a:r>
          </a:p>
          <a:p>
            <a:pPr algn="just">
              <a:lnSpc>
                <a:spcPct val="150000"/>
              </a:lnSpc>
            </a:pPr>
            <a:r>
              <a:rPr lang="zh-TW" altLang="en-US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總平均＝</a:t>
            </a:r>
            <a:r>
              <a:rPr lang="en-US" altLang="zh-TW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(40×75</a:t>
            </a:r>
            <a:r>
              <a:rPr lang="zh-TW" altLang="en-US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＋</a:t>
            </a:r>
            <a:r>
              <a:rPr lang="en-US" altLang="zh-TW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60×80)÷(40</a:t>
            </a:r>
            <a:r>
              <a:rPr lang="zh-TW" altLang="en-US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＋</a:t>
            </a:r>
            <a:r>
              <a:rPr lang="en-US" altLang="zh-TW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60)</a:t>
            </a:r>
            <a:r>
              <a:rPr lang="zh-TW" altLang="en-US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＝</a:t>
            </a:r>
            <a:r>
              <a:rPr lang="en-US" altLang="zh-TW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78</a:t>
            </a:r>
            <a:r>
              <a:rPr lang="zh-TW" altLang="en-US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（分）</a:t>
            </a:r>
          </a:p>
          <a:p>
            <a:pPr algn="just">
              <a:lnSpc>
                <a:spcPct val="150000"/>
              </a:lnSpc>
            </a:pPr>
            <a:r>
              <a:rPr lang="zh-TW" altLang="en-US" sz="2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重點：各組人數不同時，要依各組人數加權。</a:t>
            </a:r>
            <a:endParaRPr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3｜分組資料也能算平均數嗎？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可以，但我們已經看不到每一筆原始資料。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分組資料的作法：以各組「組中點」代表該組所有資料。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因此分組資料算出的平均數通常是原始資料平均數的近似值。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組中點怎麼找？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組中點 m＝（下界＋上界）÷ 2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例如 40–50 的組中點＝45。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50–60 的組中點＝55。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接著用組中點乘上該組次數。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分組資料平均數｜計算公式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4183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3776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223D5C"/>
                </a:solidFill>
                <a:latin typeface="Cambria Math"/>
              </a:defRPr>
            </a:pPr>
            <a:r>
              <a:t>x̄ = (Σ mᵢ fᵢ) / n</a:t>
            </a:r>
          </a:p>
          <a:p>
            <a:pPr algn="ctr">
              <a:defRPr sz="1700">
                <a:solidFill>
                  <a:srgbClr val="2D2D2D"/>
                </a:solidFill>
                <a:latin typeface="Microsoft JhengHei"/>
              </a:defRPr>
            </a:pPr>
            <a:r>
              <a:t>mᵢ：第 i 組組中點；fᵢ：第 i 組次數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88620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D2D2D"/>
                </a:solidFill>
                <a:latin typeface="Microsoft JhengHei"/>
              </a:defRPr>
            </a:pPr>
            <a:r>
              <a:t>核心做法：組中點 × 次數 → 加總 → 除以總次數。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例題 2｜分組成績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417320"/>
          <a:ext cx="109728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8686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成績組別</a:t>
                      </a:r>
                    </a:p>
                  </a:txBody>
                  <a:tcPr>
                    <a:solidFill>
                      <a:srgbClr val="D7E2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40–50</a:t>
                      </a:r>
                    </a:p>
                  </a:txBody>
                  <a:tcPr>
                    <a:solidFill>
                      <a:srgbClr val="D7E2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50–60</a:t>
                      </a:r>
                    </a:p>
                  </a:txBody>
                  <a:tcPr>
                    <a:solidFill>
                      <a:srgbClr val="D7E2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60–70</a:t>
                      </a:r>
                    </a:p>
                  </a:txBody>
                  <a:tcPr>
                    <a:solidFill>
                      <a:srgbClr val="D7E2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70–80</a:t>
                      </a:r>
                    </a:p>
                  </a:txBody>
                  <a:tcPr>
                    <a:solidFill>
                      <a:srgbClr val="D7E2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80–90</a:t>
                      </a:r>
                    </a:p>
                  </a:txBody>
                  <a:tcPr>
                    <a:solidFill>
                      <a:srgbClr val="D7E2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組中點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次數 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m×f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375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255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1663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D2D2D"/>
                </a:solidFill>
                <a:latin typeface="Microsoft JhengHei"/>
              </a:defRPr>
            </a:pPr>
            <a:r>
              <a:t>總次數 n＝20；Σmf＝1,330。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例題 2｜一步一步算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Σmf＝45×2＋55×4＋65×6＋75×5＋85×3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＝90＋220＋390＋375＋255＝1,330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n＝2＋4＋6＋5＋3＝20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x̄＝1,330 ÷ 20＝66.5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為什麼分組平均數只是近似？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因為不知道各組內每一筆資料的實際數值，只能以「組中點」作為該組資料的代表值。</a:t>
            </a:r>
          </a:p>
          <a:p>
            <a:r>
              <a:t>因此從分組次數表算出的平均數，通常是原始資料平均數的估計值。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4｜平均數的優點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概念清楚、計算容易。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計算時會使用到每一個觀測值。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在許多後續統計方法中都會繼續使用平均數。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同一組資料的算術平均數是唯一的。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平均數的限制｜極端值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特別要注意：極端值會對算術平均數產生很大影響。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例：30、32、35、36、200。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平均數＝66.6，但 66.6 並不像多數人的典型數值。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所以「平均」不一定永遠最有代表性。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極端值前後比較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83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283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835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94488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資料</a:t>
                      </a:r>
                    </a:p>
                  </a:txBody>
                  <a:tcPr>
                    <a:solidFill>
                      <a:srgbClr val="D7E2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D7E2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D7E2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D7E2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D7E2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D7E2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平均數</a:t>
                      </a:r>
                    </a:p>
                  </a:txBody>
                  <a:tcPr>
                    <a:solidFill>
                      <a:srgbClr val="D7E2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44880"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沒有極端值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34.6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44880"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最後一筆改為 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0">
                          <a:solidFill>
                            <a:srgbClr val="2D2D2D"/>
                          </a:solidFill>
                          <a:latin typeface="Microsoft JhengHei"/>
                        </a:defRPr>
                      </a:pPr>
                      <a:r>
                        <a:t>66.6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80060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D2D2D"/>
                </a:solidFill>
                <a:latin typeface="Microsoft JhengHei"/>
              </a:defRPr>
            </a:pPr>
            <a:r>
              <a:t>只改一筆資料，平均數就由 34.6 大幅變成 66.6。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平均數的限制｜開放組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若次數分配表含有開放組，例如「80 以上」，就無法知道該組的組中點。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沒有組中點，就無法依分組資料公式計算完整平均數。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這也是使用分組資料計算平均數時的重要限制。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平均數不是看到數字就算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先確認資料尺度：算術平均數適用於等距與比率尺度。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再確認資料是否存在明顯極端值。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若是分組資料，注意平均數只是近似值。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若含開放組，組中點無法確定。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本週整合｜平均數的三種判斷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12737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會算：原始資料與分組資料平均數。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會分：𝜇是母體平均數，𝑥 ̅是樣本平均數。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rPr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會判斷：平均數何時有代表性？何時需要小心？</a:t>
            </a:r>
            <a:endParaRPr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22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Microsoft JhengHei"/>
              </a:defRPr>
            </a:pPr>
            <a:r>
              <a:t>離開教室前｜1 分鐘檢核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資料 4、6、8、10 的平均數是多少？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分組資料為什麼要用組中點？</a:t>
            </a:r>
          </a:p>
          <a:p>
            <a:pPr>
              <a:spcAft>
                <a:spcPts val="900"/>
              </a:spcAft>
              <a:defRPr sz="2000">
                <a:solidFill>
                  <a:srgbClr val="2D2D2D"/>
                </a:solidFill>
                <a:latin typeface="Microsoft JhengHei"/>
              </a:defRPr>
            </a:pPr>
            <a:r>
              <a:t>若資料中出現一個非常大的極端值，平均數通常會受到什麼影響？</a:t>
            </a:r>
          </a:p>
          <a:p>
            <a:r>
              <a:t>答案①：(4＋6＋8＋10)÷4＝7</a:t>
            </a:r>
          </a:p>
          <a:p>
            <a:r>
              <a:t>答案②：因為分組後看不到每筆原始資料，所以用各組組中點代表該組資料。</a:t>
            </a:r>
          </a:p>
          <a:p>
            <a:r>
              <a:t>答案③：非常大的極端值通常會把平均數向上拉高。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73952"/>
            <a:ext cx="8229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  <a:latin typeface="Microsoft JhengHei"/>
              </a:defRPr>
            </a:pPr>
            <a:r>
              <a:t>W03 |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893</Words>
  <Application>Microsoft Office PowerPoint</Application>
  <PresentationFormat>寬螢幕</PresentationFormat>
  <Paragraphs>200</Paragraphs>
  <Slides>28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3" baseType="lpstr">
      <vt:lpstr>微軟正黑體</vt:lpstr>
      <vt:lpstr>Arial</vt:lpstr>
      <vt:lpstr>Calibri</vt:lpstr>
      <vt:lpstr>Cambria Math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Acer</dc:creator>
  <cp:keywords/>
  <dc:description>generated using python-pptx</dc:description>
  <cp:lastModifiedBy>桂珍 邱</cp:lastModifiedBy>
  <cp:revision>3</cp:revision>
  <dcterms:created xsi:type="dcterms:W3CDTF">2013-01-27T09:14:16Z</dcterms:created>
  <dcterms:modified xsi:type="dcterms:W3CDTF">2026-09-30T14:01:20Z</dcterms:modified>
  <cp:category/>
</cp:coreProperties>
</file>